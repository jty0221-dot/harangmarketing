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f.kakao.com/_cDxaKn/cha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INSTITUTION PROPOSAL</a:t>
            </a:r>
            <a:endParaRPr lang="en-US" sz="1320" dirty="0"/>
          </a:p>
        </p:txBody>
      </p:sp>
      <p:pic>
        <p:nvPicPr>
          <p:cNvPr id="4" name="Image 0" descr="E:\하랑\돈스탑잉글리시\docs\portfolio-proposal\assets\community-learning_ai.png">    </p:cNvPr>
          <p:cNvPicPr>
            <a:picLocks noChangeAspect="1"/>
          </p:cNvPicPr>
          <p:nvPr/>
        </p:nvPicPr>
        <p:blipFill>
          <a:blip r:embed="rId1"/>
          <a:srcRect l="19793" r="19793" t="0" b="0"/>
          <a:stretch/>
        </p:blipFill>
        <p:spPr>
          <a:xfrm>
            <a:off x="5486400" y="0"/>
            <a:ext cx="6705600" cy="6210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5890260"/>
            <a:ext cx="67056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00700" y="5951220"/>
            <a:ext cx="6477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5486400" cy="62103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365760"/>
            <a:ext cx="441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9" name="Text 6"/>
          <p:cNvSpPr/>
          <p:nvPr/>
        </p:nvSpPr>
        <p:spPr>
          <a:xfrm>
            <a:off x="609600" y="929640"/>
            <a:ext cx="426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단체 특강 제안</a:t>
            </a:r>
            <a:endParaRPr lang="en-US" sz="1440" dirty="0"/>
          </a:p>
        </p:txBody>
      </p:sp>
      <p:sp>
        <p:nvSpPr>
          <p:cNvPr id="10" name="Text 7"/>
          <p:cNvSpPr/>
          <p:nvPr/>
        </p:nvSpPr>
        <p:spPr>
          <a:xfrm>
            <a:off x="609600" y="1790700"/>
            <a:ext cx="46482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천천히 말해보고,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웃는</a:t>
            </a:r>
            <a:endParaRPr lang="en-US" sz="3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609600" y="4404360"/>
            <a:ext cx="44958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중장년·어르신 생활·여행 영어</a:t>
            </a:r>
            <a:endParaRPr lang="en-US" sz="1680" dirty="0"/>
          </a:p>
        </p:txBody>
      </p:sp>
      <p:sp>
        <p:nvSpPr>
          <p:cNvPr id="12" name="Text 9"/>
          <p:cNvSpPr/>
          <p:nvPr/>
        </p:nvSpPr>
        <p:spPr>
          <a:xfrm>
            <a:off x="609600" y="5288280"/>
            <a:ext cx="449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운영자</a:t>
            </a:r>
            <a:endParaRPr lang="en-US" sz="13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2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 중심 / 1~2시간 / 운영 조건 협의</a:t>
            </a:r>
            <a:endParaRPr lang="en-US" sz="1320" dirty="0"/>
          </a:p>
        </p:txBody>
      </p:sp>
      <p:sp>
        <p:nvSpPr>
          <p:cNvPr id="13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/ 12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IS THIS FOR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 속 한마디를 시작하고 싶은 분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완벽한 문장보다, 써보고 싶은 장면 하나에서 출발합니다.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520" dirty="0"/>
          </a:p>
        </p:txBody>
      </p:sp>
      <p:sp>
        <p:nvSpPr>
          <p:cNvPr id="8" name="Text 6"/>
          <p:cNvSpPr/>
          <p:nvPr/>
        </p:nvSpPr>
        <p:spPr>
          <a:xfrm>
            <a:off x="83820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여행을 준비하는 분</a:t>
            </a:r>
            <a:endParaRPr lang="en-US" sz="2040" dirty="0"/>
          </a:p>
        </p:txBody>
      </p:sp>
      <p:sp>
        <p:nvSpPr>
          <p:cNvPr id="9" name="Text 7"/>
          <p:cNvSpPr/>
          <p:nvPr/>
        </p:nvSpPr>
        <p:spPr>
          <a:xfrm>
            <a:off x="83820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주문하거나 길을 묻는 말을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편안하게 연습하고 싶은 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6626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459486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영어를 다시 시작하는 분</a:t>
            </a:r>
            <a:endParaRPr lang="en-US" sz="2040" dirty="0"/>
          </a:p>
        </p:txBody>
      </p:sp>
      <p:sp>
        <p:nvSpPr>
          <p:cNvPr id="13" name="Text 11"/>
          <p:cNvSpPr/>
          <p:nvPr/>
        </p:nvSpPr>
        <p:spPr>
          <a:xfrm>
            <a:off x="459486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표현을 큰 글씨로 읽고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천천히 말해보고 싶은 분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292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520" dirty="0"/>
          </a:p>
        </p:txBody>
      </p:sp>
      <p:sp>
        <p:nvSpPr>
          <p:cNvPr id="16" name="Text 14"/>
          <p:cNvSpPr/>
          <p:nvPr/>
        </p:nvSpPr>
        <p:spPr>
          <a:xfrm>
            <a:off x="835152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배우고 싶은 분</a:t>
            </a:r>
            <a:endParaRPr lang="en-US" sz="2040" dirty="0"/>
          </a:p>
        </p:txBody>
      </p:sp>
      <p:sp>
        <p:nvSpPr>
          <p:cNvPr id="17" name="Text 15"/>
          <p:cNvSpPr/>
          <p:nvPr/>
        </p:nvSpPr>
        <p:spPr>
          <a:xfrm>
            <a:off x="835152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발표하기보다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 사람과 연습하고 싶은 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12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CONCEPT</a:t>
            </a:r>
            <a:endParaRPr lang="en-US" sz="1320" dirty="0"/>
          </a:p>
        </p:txBody>
      </p:sp>
      <p:pic>
        <p:nvPicPr>
          <p:cNvPr id="4" name="Image 0" descr="E:\하랑\돈스탑잉글리시\docs\portfolio-proposal\assets\community-learning_ai.png">    </p:cNvPr>
          <p:cNvPicPr>
            <a:picLocks noChangeAspect="1"/>
          </p:cNvPicPr>
          <p:nvPr/>
        </p:nvPicPr>
        <p:blipFill>
          <a:blip r:embed="rId1"/>
          <a:srcRect l="6835" r="6835" t="0" b="0"/>
          <a:stretch/>
        </p:blipFill>
        <p:spPr>
          <a:xfrm>
            <a:off x="609600" y="1272540"/>
            <a:ext cx="712470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9600" y="5570220"/>
            <a:ext cx="71247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3900" y="5631180"/>
            <a:ext cx="68961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7" name="Text 4"/>
          <p:cNvSpPr/>
          <p:nvPr/>
        </p:nvSpPr>
        <p:spPr>
          <a:xfrm>
            <a:off x="8229600" y="1485900"/>
            <a:ext cx="34671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7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설명하고,</a:t>
            </a:r>
            <a:endParaRPr lang="en-US" sz="276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말해보고,</a:t>
            </a:r>
            <a:endParaRPr lang="en-US" sz="276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7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생활에 적용합니다.</a:t>
            </a:r>
            <a:endParaRPr lang="en-US" sz="2760" dirty="0"/>
          </a:p>
        </p:txBody>
      </p:sp>
      <p:sp>
        <p:nvSpPr>
          <p:cNvPr id="8" name="Text 5"/>
          <p:cNvSpPr/>
          <p:nvPr/>
        </p:nvSpPr>
        <p:spPr>
          <a:xfrm>
            <a:off x="8229600" y="4076700"/>
            <a:ext cx="3390900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상황 설명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표현 자료</a:t>
            </a:r>
            <a:endParaRPr lang="en-US" sz="17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40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선택적인 짝 활동</a:t>
            </a:r>
            <a:endParaRPr lang="en-US" sz="1740" dirty="0"/>
          </a:p>
        </p:txBody>
      </p:sp>
      <p:sp>
        <p:nvSpPr>
          <p:cNvPr id="9" name="Text 6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0" name="Text 7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12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PROGRAM MENU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장면을 먼저 고릅니다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수업은 한 가지 장면을 중심으로, 표현을 듣고 직접 말해보는 구성을 제안합니다.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520" dirty="0"/>
          </a:p>
        </p:txBody>
      </p:sp>
      <p:sp>
        <p:nvSpPr>
          <p:cNvPr id="8" name="Text 6"/>
          <p:cNvSpPr/>
          <p:nvPr/>
        </p:nvSpPr>
        <p:spPr>
          <a:xfrm>
            <a:off x="83820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주문하기</a:t>
            </a:r>
            <a:endParaRPr lang="en-US" sz="2040" dirty="0"/>
          </a:p>
        </p:txBody>
      </p:sp>
      <p:sp>
        <p:nvSpPr>
          <p:cNvPr id="9" name="Text 7"/>
          <p:cNvSpPr/>
          <p:nvPr/>
        </p:nvSpPr>
        <p:spPr>
          <a:xfrm>
            <a:off x="83820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것과 수량을 말해봅니다.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 a coffee, please.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6626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459486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 묻기</a:t>
            </a:r>
            <a:endParaRPr lang="en-US" sz="2040" dirty="0"/>
          </a:p>
        </p:txBody>
      </p:sp>
      <p:sp>
        <p:nvSpPr>
          <p:cNvPr id="13" name="Text 11"/>
          <p:cNvSpPr/>
          <p:nvPr/>
        </p:nvSpPr>
        <p:spPr>
          <a:xfrm>
            <a:off x="459486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목적지를 묻고 안내를 듣습니다.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the station?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2920" y="3238500"/>
            <a:ext cx="3451860" cy="2705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444240"/>
            <a:ext cx="299466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520" dirty="0"/>
          </a:p>
        </p:txBody>
      </p:sp>
      <p:sp>
        <p:nvSpPr>
          <p:cNvPr id="16" name="Text 14"/>
          <p:cNvSpPr/>
          <p:nvPr/>
        </p:nvSpPr>
        <p:spPr>
          <a:xfrm>
            <a:off x="8351520" y="4076700"/>
            <a:ext cx="2994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인사와 소개</a:t>
            </a:r>
            <a:endParaRPr lang="en-US" sz="2040" dirty="0"/>
          </a:p>
        </p:txBody>
      </p:sp>
      <p:sp>
        <p:nvSpPr>
          <p:cNvPr id="17" name="Text 15"/>
          <p:cNvSpPr/>
          <p:nvPr/>
        </p:nvSpPr>
        <p:spPr>
          <a:xfrm>
            <a:off x="8351520" y="4953000"/>
            <a:ext cx="29946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이름을 말하고 인사를 나눕니다.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 name is …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12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LEARNING MATERIAL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65860"/>
            <a:ext cx="54483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장의 표현 카드,</a:t>
            </a:r>
            <a:endParaRPr lang="en-US" sz="35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35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작은 대화</a:t>
            </a:r>
            <a:endParaRPr lang="en-US" sz="3540" dirty="0"/>
          </a:p>
        </p:txBody>
      </p:sp>
      <p:sp>
        <p:nvSpPr>
          <p:cNvPr id="5" name="Text 3"/>
          <p:cNvSpPr/>
          <p:nvPr/>
        </p:nvSpPr>
        <p:spPr>
          <a:xfrm>
            <a:off x="609600" y="2766060"/>
            <a:ext cx="548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글씨로 읽고, 한국어로 상황을 이해한 뒤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방식으로 말해봅니다.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609600" y="3909060"/>
            <a:ext cx="53340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3440" y="4114800"/>
            <a:ext cx="4800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교재 · 커피 주문하기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3440" y="458724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would like</a:t>
            </a:r>
            <a:endParaRPr lang="en-US" sz="25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52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coffee, please.</a:t>
            </a:r>
            <a:endParaRPr lang="en-US" sz="2520" dirty="0"/>
          </a:p>
        </p:txBody>
      </p:sp>
      <p:pic>
        <p:nvPicPr>
          <p:cNvPr id="9" name="Image 0" descr="E:\하랑\돈스탑잉글리시\docs\portfolio-proposal\assets\learning-cards_ai.png">    </p:cNvPr>
          <p:cNvPicPr>
            <a:picLocks noChangeAspect="1"/>
          </p:cNvPicPr>
          <p:nvPr/>
        </p:nvPicPr>
        <p:blipFill>
          <a:blip r:embed="rId1"/>
          <a:srcRect l="20799" r="20799" t="0" b="0"/>
          <a:stretch/>
        </p:blipFill>
        <p:spPr>
          <a:xfrm>
            <a:off x="6858000" y="1196340"/>
            <a:ext cx="472440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858000" y="5402580"/>
            <a:ext cx="4724400" cy="32004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72300" y="5463540"/>
            <a:ext cx="44958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AI로 제작한 수업 콘셉트 이미지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/ 12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 EXPERIENCE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수업의 흐름을 눈으로 그려봅니다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발표하기가 부담스럽다면 함께 따라 말하거나 짝 활동을 선택할 수 있습니다.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6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3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80" dirty="0"/>
          </a:p>
        </p:txBody>
      </p:sp>
      <p:sp>
        <p:nvSpPr>
          <p:cNvPr id="9" name="Text 7"/>
          <p:cNvSpPr/>
          <p:nvPr/>
        </p:nvSpPr>
        <p:spPr>
          <a:xfrm>
            <a:off x="8153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 고르기</a:t>
            </a:r>
            <a:endParaRPr lang="en-US" sz="1860" dirty="0"/>
          </a:p>
        </p:txBody>
      </p:sp>
      <p:sp>
        <p:nvSpPr>
          <p:cNvPr id="10" name="Text 8"/>
          <p:cNvSpPr/>
          <p:nvPr/>
        </p:nvSpPr>
        <p:spPr>
          <a:xfrm>
            <a:off x="8153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생활·여행 장면을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함께 살펴봅니다.</a:t>
            </a:r>
            <a:endParaRPr lang="en-US" sz="1380" dirty="0"/>
          </a:p>
        </p:txBody>
      </p:sp>
      <p:sp>
        <p:nvSpPr>
          <p:cNvPr id="11" name="Shape 9"/>
          <p:cNvSpPr/>
          <p:nvPr/>
        </p:nvSpPr>
        <p:spPr>
          <a:xfrm>
            <a:off x="34290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47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80" dirty="0"/>
          </a:p>
        </p:txBody>
      </p:sp>
      <p:sp>
        <p:nvSpPr>
          <p:cNvPr id="14" name="Text 12"/>
          <p:cNvSpPr/>
          <p:nvPr/>
        </p:nvSpPr>
        <p:spPr>
          <a:xfrm>
            <a:off x="36347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만나기</a:t>
            </a:r>
            <a:endParaRPr lang="en-US" sz="1860" dirty="0"/>
          </a:p>
        </p:txBody>
      </p:sp>
      <p:sp>
        <p:nvSpPr>
          <p:cNvPr id="15" name="Text 13"/>
          <p:cNvSpPr/>
          <p:nvPr/>
        </p:nvSpPr>
        <p:spPr>
          <a:xfrm>
            <a:off x="36347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영어 표현을 듣고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자료로 읽습니다.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2484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48400" y="3421380"/>
            <a:ext cx="2590800" cy="381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541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80" dirty="0"/>
          </a:p>
        </p:txBody>
      </p:sp>
      <p:sp>
        <p:nvSpPr>
          <p:cNvPr id="19" name="Text 17"/>
          <p:cNvSpPr/>
          <p:nvPr/>
        </p:nvSpPr>
        <p:spPr>
          <a:xfrm>
            <a:off x="64541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말하기</a:t>
            </a:r>
            <a:endParaRPr lang="en-US" sz="1860" dirty="0"/>
          </a:p>
        </p:txBody>
      </p:sp>
      <p:sp>
        <p:nvSpPr>
          <p:cNvPr id="20" name="Text 18"/>
          <p:cNvSpPr/>
          <p:nvPr/>
        </p:nvSpPr>
        <p:spPr>
          <a:xfrm>
            <a:off x="64541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원하면 짝으로 연습하며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상황과 역할을 바꿉니다.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9067800" y="3421380"/>
            <a:ext cx="2590800" cy="232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67800" y="3421380"/>
            <a:ext cx="2590800" cy="381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73540" y="3657600"/>
            <a:ext cx="21793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80" dirty="0"/>
          </a:p>
        </p:txBody>
      </p:sp>
      <p:sp>
        <p:nvSpPr>
          <p:cNvPr id="24" name="Text 22"/>
          <p:cNvSpPr/>
          <p:nvPr/>
        </p:nvSpPr>
        <p:spPr>
          <a:xfrm>
            <a:off x="9273540" y="4206240"/>
            <a:ext cx="217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정리</a:t>
            </a:r>
            <a:endParaRPr lang="en-US" sz="1860" dirty="0"/>
          </a:p>
        </p:txBody>
      </p:sp>
      <p:sp>
        <p:nvSpPr>
          <p:cNvPr id="25" name="Text 23"/>
          <p:cNvSpPr/>
          <p:nvPr/>
        </p:nvSpPr>
        <p:spPr>
          <a:xfrm>
            <a:off x="9273540" y="4907280"/>
            <a:ext cx="2179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표현과 다음에</a:t>
            </a:r>
            <a:endParaRPr lang="en-US" sz="13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해볼 연습을 정리합니다.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/ 12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FLEXIBLE FORMAT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· 90 · 120분, 목적에 맞게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배분은 기본 제안입니다. 참가자의 요구와 기관 운영에 맞춰 조정합니다.</a:t>
            </a:r>
            <a:endParaRPr lang="en-US" sz="1620" dirty="0"/>
          </a:p>
        </p:txBody>
      </p:sp>
      <p:sp>
        <p:nvSpPr>
          <p:cNvPr id="6" name="Text 4"/>
          <p:cNvSpPr/>
          <p:nvPr/>
        </p:nvSpPr>
        <p:spPr>
          <a:xfrm>
            <a:off x="609600" y="326136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057400" y="3124200"/>
            <a:ext cx="1517650" cy="7620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10740" y="3284220"/>
            <a:ext cx="141097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3613150" y="3124200"/>
            <a:ext cx="2295525" cy="7620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66490" y="3284220"/>
            <a:ext cx="2188845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익히기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1260" dirty="0"/>
          </a:p>
        </p:txBody>
      </p:sp>
      <p:sp>
        <p:nvSpPr>
          <p:cNvPr id="11" name="Shape 9"/>
          <p:cNvSpPr/>
          <p:nvPr/>
        </p:nvSpPr>
        <p:spPr>
          <a:xfrm>
            <a:off x="5946775" y="3124200"/>
            <a:ext cx="3073400" cy="762000"/>
          </a:xfrm>
          <a:prstGeom prst="rect">
            <a:avLst/>
          </a:prstGeom>
          <a:solidFill>
            <a:srgbClr val="456879"/>
          </a:solidFill>
          <a:ln w="12700">
            <a:solidFill>
              <a:srgbClr val="45687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00115" y="3284220"/>
            <a:ext cx="296672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연습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20분</a:t>
            </a:r>
            <a:endParaRPr lang="en-US" sz="1260" dirty="0"/>
          </a:p>
        </p:txBody>
      </p:sp>
      <p:sp>
        <p:nvSpPr>
          <p:cNvPr id="13" name="Shape 11"/>
          <p:cNvSpPr/>
          <p:nvPr/>
        </p:nvSpPr>
        <p:spPr>
          <a:xfrm>
            <a:off x="9058275" y="3124200"/>
            <a:ext cx="1517650" cy="7620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1615" y="3284220"/>
            <a:ext cx="141097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 적용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60" dirty="0"/>
          </a:p>
        </p:txBody>
      </p:sp>
      <p:sp>
        <p:nvSpPr>
          <p:cNvPr id="15" name="Shape 13"/>
          <p:cNvSpPr/>
          <p:nvPr/>
        </p:nvSpPr>
        <p:spPr>
          <a:xfrm>
            <a:off x="10614025" y="3124200"/>
            <a:ext cx="739775" cy="762000"/>
          </a:xfrm>
          <a:prstGeom prst="rect">
            <a:avLst/>
          </a:prstGeom>
          <a:solidFill>
            <a:srgbClr val="6A858C"/>
          </a:solidFill>
          <a:ln w="12700">
            <a:solidFill>
              <a:srgbClr val="6A85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7365" y="3284220"/>
            <a:ext cx="633095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1260" dirty="0"/>
          </a:p>
        </p:txBody>
      </p:sp>
      <p:sp>
        <p:nvSpPr>
          <p:cNvPr id="17" name="Text 15"/>
          <p:cNvSpPr/>
          <p:nvPr/>
        </p:nvSpPr>
        <p:spPr>
          <a:xfrm>
            <a:off x="609600" y="426720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90분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2057400" y="4130040"/>
            <a:ext cx="999067" cy="7620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0740" y="4290060"/>
            <a:ext cx="892387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60" dirty="0"/>
          </a:p>
        </p:txBody>
      </p:sp>
      <p:sp>
        <p:nvSpPr>
          <p:cNvPr id="20" name="Shape 18"/>
          <p:cNvSpPr/>
          <p:nvPr/>
        </p:nvSpPr>
        <p:spPr>
          <a:xfrm>
            <a:off x="3094567" y="4130040"/>
            <a:ext cx="2036233" cy="7620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47907" y="4290060"/>
            <a:ext cx="1929553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20분</a:t>
            </a:r>
            <a:endParaRPr lang="en-US" sz="1260" dirty="0"/>
          </a:p>
        </p:txBody>
      </p:sp>
      <p:sp>
        <p:nvSpPr>
          <p:cNvPr id="22" name="Shape 20"/>
          <p:cNvSpPr/>
          <p:nvPr/>
        </p:nvSpPr>
        <p:spPr>
          <a:xfrm>
            <a:off x="5168900" y="4130040"/>
            <a:ext cx="2554817" cy="762000"/>
          </a:xfrm>
          <a:prstGeom prst="rect">
            <a:avLst/>
          </a:prstGeom>
          <a:solidFill>
            <a:srgbClr val="456879"/>
          </a:solidFill>
          <a:ln w="12700">
            <a:solidFill>
              <a:srgbClr val="45687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2240" y="4290060"/>
            <a:ext cx="2448137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연습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</a:t>
            </a:r>
            <a:endParaRPr lang="en-US" sz="1260" dirty="0"/>
          </a:p>
        </p:txBody>
      </p:sp>
      <p:sp>
        <p:nvSpPr>
          <p:cNvPr id="24" name="Shape 22"/>
          <p:cNvSpPr/>
          <p:nvPr/>
        </p:nvSpPr>
        <p:spPr>
          <a:xfrm>
            <a:off x="7761817" y="4130040"/>
            <a:ext cx="480483" cy="7620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15157" y="4290060"/>
            <a:ext cx="373803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</a:t>
            </a:r>
            <a:endParaRPr lang="en-US" sz="9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8280400" y="4130040"/>
            <a:ext cx="2036233" cy="762000"/>
          </a:xfrm>
          <a:prstGeom prst="rect">
            <a:avLst/>
          </a:prstGeom>
          <a:solidFill>
            <a:srgbClr val="6A858C"/>
          </a:solidFill>
          <a:ln w="12700">
            <a:solidFill>
              <a:srgbClr val="6A85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33740" y="4290060"/>
            <a:ext cx="1929553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20분</a:t>
            </a:r>
            <a:endParaRPr lang="en-US" sz="1260" dirty="0"/>
          </a:p>
        </p:txBody>
      </p:sp>
      <p:sp>
        <p:nvSpPr>
          <p:cNvPr id="28" name="Shape 26"/>
          <p:cNvSpPr/>
          <p:nvPr/>
        </p:nvSpPr>
        <p:spPr>
          <a:xfrm>
            <a:off x="10354733" y="4130040"/>
            <a:ext cx="999067" cy="762000"/>
          </a:xfrm>
          <a:prstGeom prst="rect">
            <a:avLst/>
          </a:prstGeom>
          <a:solidFill>
            <a:srgbClr val="879A9D"/>
          </a:solidFill>
          <a:ln w="12700">
            <a:solidFill>
              <a:srgbClr val="879A9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408073" y="4290060"/>
            <a:ext cx="892387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60" dirty="0"/>
          </a:p>
        </p:txBody>
      </p:sp>
      <p:sp>
        <p:nvSpPr>
          <p:cNvPr id="30" name="Text 28"/>
          <p:cNvSpPr/>
          <p:nvPr/>
        </p:nvSpPr>
        <p:spPr>
          <a:xfrm>
            <a:off x="609600" y="5273040"/>
            <a:ext cx="12192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120분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2057400" y="5135880"/>
            <a:ext cx="1128713" cy="7620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10740" y="5295900"/>
            <a:ext cx="1022033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1260" dirty="0"/>
          </a:p>
        </p:txBody>
      </p:sp>
      <p:sp>
        <p:nvSpPr>
          <p:cNvPr id="33" name="Shape 31"/>
          <p:cNvSpPr/>
          <p:nvPr/>
        </p:nvSpPr>
        <p:spPr>
          <a:xfrm>
            <a:off x="3224213" y="5135880"/>
            <a:ext cx="1906588" cy="7620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7553" y="5295900"/>
            <a:ext cx="1799908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</a:t>
            </a:r>
            <a:endParaRPr lang="en-US" sz="1260" dirty="0"/>
          </a:p>
        </p:txBody>
      </p:sp>
      <p:sp>
        <p:nvSpPr>
          <p:cNvPr id="35" name="Shape 33"/>
          <p:cNvSpPr/>
          <p:nvPr/>
        </p:nvSpPr>
        <p:spPr>
          <a:xfrm>
            <a:off x="5168900" y="5135880"/>
            <a:ext cx="2295525" cy="762000"/>
          </a:xfrm>
          <a:prstGeom prst="rect">
            <a:avLst/>
          </a:prstGeom>
          <a:solidFill>
            <a:srgbClr val="456879"/>
          </a:solidFill>
          <a:ln w="12700">
            <a:solidFill>
              <a:srgbClr val="45687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2240" y="5295900"/>
            <a:ext cx="2188845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연습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</a:t>
            </a:r>
            <a:endParaRPr lang="en-US" sz="1260" dirty="0"/>
          </a:p>
        </p:txBody>
      </p:sp>
      <p:sp>
        <p:nvSpPr>
          <p:cNvPr id="37" name="Shape 35"/>
          <p:cNvSpPr/>
          <p:nvPr/>
        </p:nvSpPr>
        <p:spPr>
          <a:xfrm>
            <a:off x="7502525" y="5135880"/>
            <a:ext cx="739775" cy="762000"/>
          </a:xfrm>
          <a:prstGeom prst="rect">
            <a:avLst/>
          </a:prstGeom>
          <a:solidFill>
            <a:srgbClr val="DC955B"/>
          </a:solidFill>
          <a:ln w="12700">
            <a:solidFill>
              <a:srgbClr val="DC95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55865" y="5295900"/>
            <a:ext cx="633095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60" dirty="0"/>
          </a:p>
        </p:txBody>
      </p:sp>
      <p:sp>
        <p:nvSpPr>
          <p:cNvPr id="39" name="Shape 37"/>
          <p:cNvSpPr/>
          <p:nvPr/>
        </p:nvSpPr>
        <p:spPr>
          <a:xfrm>
            <a:off x="8280400" y="5135880"/>
            <a:ext cx="1906588" cy="762000"/>
          </a:xfrm>
          <a:prstGeom prst="rect">
            <a:avLst/>
          </a:prstGeom>
          <a:solidFill>
            <a:srgbClr val="6A858C"/>
          </a:solidFill>
          <a:ln w="12700">
            <a:solidFill>
              <a:srgbClr val="6A85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33740" y="5295900"/>
            <a:ext cx="1799908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</a:t>
            </a:r>
            <a:endParaRPr lang="en-US" sz="1260" dirty="0"/>
          </a:p>
        </p:txBody>
      </p:sp>
      <p:sp>
        <p:nvSpPr>
          <p:cNvPr id="41" name="Shape 39"/>
          <p:cNvSpPr/>
          <p:nvPr/>
        </p:nvSpPr>
        <p:spPr>
          <a:xfrm>
            <a:off x="10225088" y="5135880"/>
            <a:ext cx="1128713" cy="762000"/>
          </a:xfrm>
          <a:prstGeom prst="rect">
            <a:avLst/>
          </a:prstGeom>
          <a:solidFill>
            <a:srgbClr val="879A9D"/>
          </a:solidFill>
          <a:ln w="12700">
            <a:solidFill>
              <a:srgbClr val="879A9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78428" y="5295900"/>
            <a:ext cx="1022033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126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2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1260" dirty="0"/>
          </a:p>
        </p:txBody>
      </p:sp>
      <p:sp>
        <p:nvSpPr>
          <p:cNvPr id="43" name="Text 41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44" name="Text 42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/ 12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DESIGN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272540"/>
            <a:ext cx="4953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속도보다</a:t>
            </a:r>
            <a:endParaRPr lang="en-US" sz="4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참여의 편안함</a:t>
            </a:r>
            <a:endParaRPr lang="en-US" sz="4680" dirty="0"/>
          </a:p>
        </p:txBody>
      </p:sp>
      <p:sp>
        <p:nvSpPr>
          <p:cNvPr id="5" name="Text 3"/>
          <p:cNvSpPr/>
          <p:nvPr/>
        </p:nvSpPr>
        <p:spPr>
          <a:xfrm>
            <a:off x="609600" y="3787140"/>
            <a:ext cx="495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참여자의 요구와 읽기 편한 글씨 크기를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기관과 사전에 확인합니다.</a:t>
            </a:r>
            <a:endParaRPr lang="en-US" sz="1680" dirty="0"/>
          </a:p>
        </p:txBody>
      </p:sp>
      <p:sp>
        <p:nvSpPr>
          <p:cNvPr id="6" name="Shape 4"/>
          <p:cNvSpPr/>
          <p:nvPr/>
        </p:nvSpPr>
        <p:spPr>
          <a:xfrm>
            <a:off x="6362700" y="1371600"/>
            <a:ext cx="518160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91300" y="156210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</a:t>
            </a:r>
            <a:endParaRPr lang="en-US" sz="2040" dirty="0"/>
          </a:p>
        </p:txBody>
      </p:sp>
      <p:sp>
        <p:nvSpPr>
          <p:cNvPr id="8" name="Text 6"/>
          <p:cNvSpPr/>
          <p:nvPr/>
        </p:nvSpPr>
        <p:spPr>
          <a:xfrm>
            <a:off x="6591300" y="2065020"/>
            <a:ext cx="472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자료와 짧은 표현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62700" y="2880360"/>
            <a:ext cx="518160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1300" y="307086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설명</a:t>
            </a:r>
            <a:endParaRPr lang="en-US" sz="2040" dirty="0"/>
          </a:p>
        </p:txBody>
      </p:sp>
      <p:sp>
        <p:nvSpPr>
          <p:cNvPr id="11" name="Text 9"/>
          <p:cNvSpPr/>
          <p:nvPr/>
        </p:nvSpPr>
        <p:spPr>
          <a:xfrm>
            <a:off x="6591300" y="3573780"/>
            <a:ext cx="472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상황을 먼저 이해하는 안내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62700" y="4389120"/>
            <a:ext cx="5181600" cy="1203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91300" y="4579620"/>
            <a:ext cx="472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4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선택적인 활동</a:t>
            </a:r>
            <a:endParaRPr lang="en-US" sz="2040" dirty="0"/>
          </a:p>
        </p:txBody>
      </p:sp>
      <p:sp>
        <p:nvSpPr>
          <p:cNvPr id="14" name="Text 12"/>
          <p:cNvSpPr/>
          <p:nvPr/>
        </p:nvSpPr>
        <p:spPr>
          <a:xfrm>
            <a:off x="6591300" y="5082540"/>
            <a:ext cx="472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발표·스마트폰 사용은 필수 아님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/ 12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INSTRUCTOR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54864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58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</a:t>
            </a:r>
            <a:endParaRPr lang="en-US" sz="5880" dirty="0"/>
          </a:p>
        </p:txBody>
      </p:sp>
      <p:sp>
        <p:nvSpPr>
          <p:cNvPr id="5" name="Text 3"/>
          <p:cNvSpPr/>
          <p:nvPr/>
        </p:nvSpPr>
        <p:spPr>
          <a:xfrm>
            <a:off x="647700" y="2567940"/>
            <a:ext cx="54864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돈스탑 잉글리시 운영자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7700" y="3345180"/>
            <a:ext cx="54864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2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부천의 중장년·어르신을 위한</a:t>
            </a:r>
            <a:endParaRPr lang="en-US" sz="222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2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생활·여행 영어 출강을 제안합니다.</a:t>
            </a:r>
            <a:endParaRPr lang="en-US" sz="2220" dirty="0"/>
          </a:p>
        </p:txBody>
      </p:sp>
      <p:sp>
        <p:nvSpPr>
          <p:cNvPr id="7" name="Text 5"/>
          <p:cNvSpPr/>
          <p:nvPr/>
        </p:nvSpPr>
        <p:spPr>
          <a:xfrm>
            <a:off x="647700" y="49606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사진과 학력·경력·자격은</a:t>
            </a:r>
            <a:endParaRPr lang="en-US" sz="144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강사 프로필 양식에서 작성합니다.</a:t>
            </a:r>
            <a:endParaRPr lang="en-US" sz="1440" dirty="0"/>
          </a:p>
        </p:txBody>
      </p:sp>
      <p:sp>
        <p:nvSpPr>
          <p:cNvPr id="8" name="Shape 6"/>
          <p:cNvSpPr/>
          <p:nvPr/>
        </p:nvSpPr>
        <p:spPr>
          <a:xfrm>
            <a:off x="7086600" y="1409700"/>
            <a:ext cx="4457700" cy="441960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60920" y="1699260"/>
            <a:ext cx="3886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출강 제안의 범위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60920" y="2499360"/>
            <a:ext cx="3886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중장년·어르신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2~3인 / 10명 이상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endParaRPr lang="en-US" sz="1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80" dirty="0">
                <a:solidFill>
                  <a:srgbClr val="DAE4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1~2시간 · 조건 협의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/ 12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OPERATION CHECK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기관과 강사가 함께 준비합니다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인원, 장소, 장비, 교재와 필요한 참여 지원을 확인한 뒤 운영 조건을 정합니다.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208020"/>
            <a:ext cx="5257800" cy="2712720"/>
          </a:xfrm>
          <a:prstGeom prst="rect">
            <a:avLst/>
          </a:prstGeom>
          <a:solidFill>
            <a:srgbClr val="132D40"/>
          </a:solidFill>
          <a:ln w="12700">
            <a:solidFill>
              <a:srgbClr val="132D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48400" y="3208020"/>
            <a:ext cx="5334000" cy="271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3920" y="3421380"/>
            <a:ext cx="4648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준비</a:t>
            </a:r>
            <a:endParaRPr lang="en-US" sz="2280" dirty="0"/>
          </a:p>
        </p:txBody>
      </p:sp>
      <p:sp>
        <p:nvSpPr>
          <p:cNvPr id="9" name="Text 7"/>
          <p:cNvSpPr/>
          <p:nvPr/>
        </p:nvSpPr>
        <p:spPr>
          <a:xfrm>
            <a:off x="883920" y="4259580"/>
            <a:ext cx="46482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 모집과 안내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공간과 접근 동선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장비와 필요한 참여 지원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22720" y="342138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28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준비</a:t>
            </a:r>
            <a:endParaRPr lang="en-US" sz="2280" dirty="0"/>
          </a:p>
        </p:txBody>
      </p:sp>
      <p:sp>
        <p:nvSpPr>
          <p:cNvPr id="11" name="Text 9"/>
          <p:cNvSpPr/>
          <p:nvPr/>
        </p:nvSpPr>
        <p:spPr>
          <a:xfrm>
            <a:off x="6522720" y="4259580"/>
            <a:ext cx="4724400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대상에 맞춘 진행안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글씨 표현 자료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활동과 마무리 자료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12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120140"/>
            <a:ext cx="108204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384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상담부터 확정까지, 네 단계</a:t>
            </a:r>
            <a:endParaRPr lang="en-US" sz="3840" dirty="0"/>
          </a:p>
        </p:txBody>
      </p:sp>
      <p:sp>
        <p:nvSpPr>
          <p:cNvPr id="5" name="Text 3"/>
          <p:cNvSpPr/>
          <p:nvPr/>
        </p:nvSpPr>
        <p:spPr>
          <a:xfrm>
            <a:off x="609600" y="2331720"/>
            <a:ext cx="1074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2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시간, 인원, 교재와 이동 조건을 확인한 뒤 안내합니다.</a:t>
            </a:r>
            <a:endParaRPr lang="en-US" sz="1620" dirty="0"/>
          </a:p>
        </p:txBody>
      </p:sp>
      <p:sp>
        <p:nvSpPr>
          <p:cNvPr id="6" name="Shape 4"/>
          <p:cNvSpPr/>
          <p:nvPr/>
        </p:nvSpPr>
        <p:spPr>
          <a:xfrm>
            <a:off x="6096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53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60" dirty="0"/>
          </a:p>
        </p:txBody>
      </p:sp>
      <p:sp>
        <p:nvSpPr>
          <p:cNvPr id="8" name="Text 6"/>
          <p:cNvSpPr/>
          <p:nvPr/>
        </p:nvSpPr>
        <p:spPr>
          <a:xfrm>
            <a:off x="8153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대상·주제 상담</a:t>
            </a:r>
            <a:endParaRPr lang="en-US" sz="1680" dirty="0"/>
          </a:p>
        </p:txBody>
      </p:sp>
      <p:sp>
        <p:nvSpPr>
          <p:cNvPr id="9" name="Shape 7"/>
          <p:cNvSpPr/>
          <p:nvPr/>
        </p:nvSpPr>
        <p:spPr>
          <a:xfrm>
            <a:off x="34290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47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60" dirty="0"/>
          </a:p>
        </p:txBody>
      </p:sp>
      <p:sp>
        <p:nvSpPr>
          <p:cNvPr id="11" name="Text 9"/>
          <p:cNvSpPr/>
          <p:nvPr/>
        </p:nvSpPr>
        <p:spPr>
          <a:xfrm>
            <a:off x="36347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인원·시간·장소 확인</a:t>
            </a:r>
            <a:endParaRPr lang="en-US" sz="1680" dirty="0"/>
          </a:p>
        </p:txBody>
      </p:sp>
      <p:sp>
        <p:nvSpPr>
          <p:cNvPr id="12" name="Shape 10"/>
          <p:cNvSpPr/>
          <p:nvPr/>
        </p:nvSpPr>
        <p:spPr>
          <a:xfrm>
            <a:off x="6248400" y="3421380"/>
            <a:ext cx="2590800" cy="129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41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64541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비용·준비 분담 협의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9067800" y="3421380"/>
            <a:ext cx="2590800" cy="1295400"/>
          </a:xfrm>
          <a:prstGeom prst="rect">
            <a:avLst/>
          </a:prstGeom>
          <a:solidFill>
            <a:srgbClr val="227C78"/>
          </a:solidFill>
          <a:ln w="12700">
            <a:solidFill>
              <a:srgbClr val="227C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3540" y="3573780"/>
            <a:ext cx="2179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60" dirty="0"/>
          </a:p>
        </p:txBody>
      </p:sp>
      <p:sp>
        <p:nvSpPr>
          <p:cNvPr id="17" name="Text 15"/>
          <p:cNvSpPr/>
          <p:nvPr/>
        </p:nvSpPr>
        <p:spPr>
          <a:xfrm>
            <a:off x="9273540" y="4137660"/>
            <a:ext cx="217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확정</a:t>
            </a:r>
            <a:endParaRPr lang="en-US" sz="1680" dirty="0"/>
          </a:p>
        </p:txBody>
      </p:sp>
      <p:sp>
        <p:nvSpPr>
          <p:cNvPr id="18" name="Text 16"/>
          <p:cNvSpPr/>
          <p:nvPr/>
        </p:nvSpPr>
        <p:spPr>
          <a:xfrm>
            <a:off x="609600" y="5181600"/>
            <a:ext cx="109728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주제와 시간 구성은 제안안입니다.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일정·장소·비용과 운영 조건은 협의 후 확정합니다.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6272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12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D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89560"/>
            <a:ext cx="457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96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DON’T STOP ENGLISH</a:t>
            </a:r>
            <a:endParaRPr lang="en-US" sz="960" dirty="0"/>
          </a:p>
        </p:txBody>
      </p:sp>
      <p:sp>
        <p:nvSpPr>
          <p:cNvPr id="3" name="Text 1"/>
          <p:cNvSpPr/>
          <p:nvPr/>
        </p:nvSpPr>
        <p:spPr>
          <a:xfrm>
            <a:off x="609600" y="693420"/>
            <a:ext cx="952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20" b="1" dirty="0">
                <a:solidFill>
                  <a:srgbClr val="DC95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</a:t>
            </a:r>
            <a:endParaRPr lang="en-US" sz="1320" dirty="0"/>
          </a:p>
        </p:txBody>
      </p:sp>
      <p:sp>
        <p:nvSpPr>
          <p:cNvPr id="4" name="Text 2"/>
          <p:cNvSpPr/>
          <p:nvPr/>
        </p:nvSpPr>
        <p:spPr>
          <a:xfrm>
            <a:off x="609600" y="13868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기관에 맞는 수업,</a:t>
            </a:r>
            <a:endParaRPr lang="en-US" sz="468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468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정해볼까요</a:t>
            </a:r>
            <a:endParaRPr lang="en-US" sz="4680" dirty="0"/>
          </a:p>
        </p:txBody>
      </p:sp>
      <p:sp>
        <p:nvSpPr>
          <p:cNvPr id="5" name="Text 3"/>
          <p:cNvSpPr/>
          <p:nvPr/>
        </p:nvSpPr>
        <p:spPr>
          <a:xfrm>
            <a:off x="609600" y="3535680"/>
            <a:ext cx="105156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60" dirty="0">
                <a:solidFill>
                  <a:srgbClr val="CAD8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배우고 싶은 장면 · 함께할 인원 · 원하는 시간과 장소</a:t>
            </a:r>
            <a:endParaRPr lang="en-US" sz="1860" dirty="0"/>
          </a:p>
        </p:txBody>
      </p:sp>
      <p:sp>
        <p:nvSpPr>
          <p:cNvPr id="6" name="Shape 4"/>
          <p:cNvSpPr/>
          <p:nvPr/>
        </p:nvSpPr>
        <p:spPr>
          <a:xfrm>
            <a:off x="609600" y="4480560"/>
            <a:ext cx="10972800" cy="1394460"/>
          </a:xfrm>
          <a:prstGeom prst="rect">
            <a:avLst/>
          </a:prstGeom>
          <a:solidFill>
            <a:srgbClr val="F5F1E8"/>
          </a:solidFill>
          <a:ln w="12700">
            <a:solidFill>
              <a:srgbClr val="F5F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3920" y="46863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80" b="1" dirty="0">
                <a:solidFill>
                  <a:srgbClr val="132D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출강 문의 · 돈스탑 잉글리시 공식 카카오 채널</a:t>
            </a:r>
            <a:endParaRPr lang="en-US" sz="168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883920" y="5181600"/>
            <a:ext cx="1043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u="sng" dirty="0">
                <a:solidFill>
                  <a:srgbClr val="227C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https://pf.kakao.com/_cDxaKn/chat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600" y="6484620"/>
            <a:ext cx="8991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박새미 · 돈스탑 잉글리시 · 출강 구성 제안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10668000" y="648462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800"/>
              </a:spcAft>
              <a:buNone/>
            </a:pPr>
            <a:r>
              <a:rPr lang="en-US" sz="840" dirty="0">
                <a:solidFill>
                  <a:srgbClr val="B6C9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12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생활·여행 영어 출강 제안</dc:title>
  <dc:subject>박새미 출강 제안</dc:subject>
  <dc:creator>돈스탑 잉글리시</dc:creator>
  <cp:lastModifiedBy>돈스탑 잉글리시</cp:lastModifiedBy>
  <cp:revision>1</cp:revision>
  <dcterms:created xsi:type="dcterms:W3CDTF">2026-10-11T13:13:09Z</dcterms:created>
  <dcterms:modified xsi:type="dcterms:W3CDTF">2026-10-11T13:13:09Z</dcterms:modified>
</cp:coreProperties>
</file>