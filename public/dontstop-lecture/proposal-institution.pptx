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pf.kakao.com/_cDxaKn/cha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DC9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INSTITUTION PROPOSAL</a:t>
            </a:r>
            <a:endParaRPr lang="en-US" sz="1320" dirty="0"/>
          </a:p>
        </p:txBody>
      </p:sp>
      <p:pic>
        <p:nvPicPr>
          <p:cNvPr id="4" name="Image 0" descr="E:\하랑\돈스탑잉글리시\docs\portfolio-proposal\assets\group-880-815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6705600" cy="6210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5890260"/>
            <a:ext cx="6705600" cy="320040"/>
          </a:xfrm>
          <a:prstGeom prst="rect">
            <a:avLst/>
          </a:prstGeom>
          <a:solidFill>
            <a:srgbClr val="132D40"/>
          </a:solidFill>
          <a:ln w="12700">
            <a:solidFill>
              <a:srgbClr val="132D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00700" y="5951220"/>
            <a:ext cx="6477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제작한 수업 콘셉트 이미지</a:t>
            </a:r>
            <a:endParaRPr lang="en-US" sz="96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5486400" cy="6210300"/>
          </a:xfrm>
          <a:prstGeom prst="rect">
            <a:avLst/>
          </a:prstGeom>
          <a:solidFill>
            <a:srgbClr val="132D40"/>
          </a:solidFill>
          <a:ln w="12700">
            <a:solidFill>
              <a:srgbClr val="132D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600" y="365760"/>
            <a:ext cx="441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609600" y="92964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40" b="1" dirty="0">
                <a:solidFill>
                  <a:srgbClr val="DC9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단체 특강 제안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609600" y="1790700"/>
            <a:ext cx="46482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천천히 말해보고,</a:t>
            </a:r>
            <a:endParaRPr lang="en-US" sz="3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웃는</a:t>
            </a:r>
            <a:endParaRPr lang="en-US" sz="3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609600" y="4404360"/>
            <a:ext cx="44958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80" dirty="0">
                <a:solidFill>
                  <a:srgbClr val="CAD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중장년·어르신 생활·여행 영어</a:t>
            </a:r>
            <a:endParaRPr lang="en-US" sz="1680" dirty="0"/>
          </a:p>
        </p:txBody>
      </p:sp>
      <p:sp>
        <p:nvSpPr>
          <p:cNvPr id="12" name="Text 9"/>
          <p:cNvSpPr/>
          <p:nvPr/>
        </p:nvSpPr>
        <p:spPr>
          <a:xfrm>
            <a:off x="609600" y="5288280"/>
            <a:ext cx="449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dirty="0">
                <a:solidFill>
                  <a:srgbClr val="CAD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운영자</a:t>
            </a:r>
            <a:endParaRPr lang="en-US" sz="132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20" dirty="0">
                <a:solidFill>
                  <a:srgbClr val="CAD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부천 중심 / 1~2시간 / 운영 조건 협의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B6C9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B6C9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/ 12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IS THIS FOR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120140"/>
            <a:ext cx="1082040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속 한마디를 시작하고 싶은 분</a:t>
            </a:r>
            <a:endParaRPr lang="en-US" sz="3960" dirty="0"/>
          </a:p>
        </p:txBody>
      </p:sp>
      <p:sp>
        <p:nvSpPr>
          <p:cNvPr id="5" name="Shape 3"/>
          <p:cNvSpPr/>
          <p:nvPr/>
        </p:nvSpPr>
        <p:spPr>
          <a:xfrm>
            <a:off x="609600" y="2202180"/>
            <a:ext cx="647700" cy="4572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4841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문장보다, 써보고 싶은 장면 하나에서 출발합니다.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238500"/>
            <a:ext cx="3451860" cy="270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3238500"/>
            <a:ext cx="45720" cy="27051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3406140"/>
            <a:ext cx="2994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939540"/>
            <a:ext cx="29946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여행을 준비하는 분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09160"/>
            <a:ext cx="299466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주문하거나 길을 묻는 말을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편안하게 연습하고 싶은 분</a:t>
            </a:r>
            <a:endParaRPr lang="en-US" sz="1740" dirty="0"/>
          </a:p>
        </p:txBody>
      </p:sp>
      <p:sp>
        <p:nvSpPr>
          <p:cNvPr id="12" name="Shape 10"/>
          <p:cNvSpPr/>
          <p:nvPr/>
        </p:nvSpPr>
        <p:spPr>
          <a:xfrm>
            <a:off x="4366260" y="3238500"/>
            <a:ext cx="3451860" cy="270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6260" y="3238500"/>
            <a:ext cx="45720" cy="27051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4860" y="3406140"/>
            <a:ext cx="2994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94860" y="3939540"/>
            <a:ext cx="29946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영어를 다시 시작할 분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94860" y="4709160"/>
            <a:ext cx="299466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표현을 큰 글씨로 읽고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천천히 말해보고 싶은 분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122920" y="3238500"/>
            <a:ext cx="3451860" cy="270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2920" y="3238500"/>
            <a:ext cx="45720" cy="27051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1520" y="3406140"/>
            <a:ext cx="2994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51520" y="3939540"/>
            <a:ext cx="29946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배우고 싶은 분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51520" y="4709160"/>
            <a:ext cx="299466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발표하기보다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옆 사람과 연습하고 싶은 분</a:t>
            </a:r>
            <a:endParaRPr lang="en-US" sz="1740" dirty="0"/>
          </a:p>
        </p:txBody>
      </p:sp>
      <p:sp>
        <p:nvSpPr>
          <p:cNvPr id="22" name="Text 20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12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 CONCEPT</a:t>
            </a:r>
            <a:endParaRPr lang="en-US" sz="1320" dirty="0"/>
          </a:p>
        </p:txBody>
      </p:sp>
      <p:pic>
        <p:nvPicPr>
          <p:cNvPr id="4" name="Image 0" descr="E:\하랑\돈스탑잉글리시\docs\portfolio-proposal\assets\group-935-606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272540"/>
            <a:ext cx="7124700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5570220"/>
            <a:ext cx="7124700" cy="320040"/>
          </a:xfrm>
          <a:prstGeom prst="rect">
            <a:avLst/>
          </a:prstGeom>
          <a:solidFill>
            <a:srgbClr val="132D40"/>
          </a:solidFill>
          <a:ln w="12700">
            <a:solidFill>
              <a:srgbClr val="132D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3900" y="5631180"/>
            <a:ext cx="68961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제작한 수업 콘셉트 이미지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8229600" y="1485900"/>
            <a:ext cx="34671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7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설명하고,</a:t>
            </a:r>
            <a:endParaRPr lang="en-US" sz="276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7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말해보고,</a:t>
            </a:r>
            <a:endParaRPr lang="en-US" sz="276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7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생활에 적용합니다.</a:t>
            </a:r>
            <a:endParaRPr lang="en-US" sz="2760" dirty="0"/>
          </a:p>
        </p:txBody>
      </p:sp>
      <p:sp>
        <p:nvSpPr>
          <p:cNvPr id="8" name="Text 5"/>
          <p:cNvSpPr/>
          <p:nvPr/>
        </p:nvSpPr>
        <p:spPr>
          <a:xfrm>
            <a:off x="8229600" y="4076700"/>
            <a:ext cx="33909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상황 설명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글씨 표현 자료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선택적인 짝 활동</a:t>
            </a:r>
            <a:endParaRPr lang="en-US" sz="1740" dirty="0"/>
          </a:p>
        </p:txBody>
      </p:sp>
      <p:sp>
        <p:nvSpPr>
          <p:cNvPr id="9" name="Text 6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12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MENU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120140"/>
            <a:ext cx="1082040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장면을 먼저 고릅니다</a:t>
            </a:r>
            <a:endParaRPr lang="en-US" sz="3960" dirty="0"/>
          </a:p>
        </p:txBody>
      </p:sp>
      <p:sp>
        <p:nvSpPr>
          <p:cNvPr id="5" name="Shape 3"/>
          <p:cNvSpPr/>
          <p:nvPr/>
        </p:nvSpPr>
        <p:spPr>
          <a:xfrm>
            <a:off x="609600" y="2202180"/>
            <a:ext cx="647700" cy="4572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4841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수업은 한 가지 장면을 중심으로, 표현을 듣고 직접 말해보는 구성을 제안합니다.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238500"/>
            <a:ext cx="3451860" cy="270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3238500"/>
            <a:ext cx="45720" cy="27051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3406140"/>
            <a:ext cx="2994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939540"/>
            <a:ext cx="29946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주문하기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09160"/>
            <a:ext cx="299466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것과 수량을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말해봅니다.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would like a coffee, please.</a:t>
            </a:r>
            <a:endParaRPr lang="en-US" sz="1740" dirty="0"/>
          </a:p>
        </p:txBody>
      </p:sp>
      <p:sp>
        <p:nvSpPr>
          <p:cNvPr id="12" name="Shape 10"/>
          <p:cNvSpPr/>
          <p:nvPr/>
        </p:nvSpPr>
        <p:spPr>
          <a:xfrm>
            <a:off x="4366260" y="3238500"/>
            <a:ext cx="3451860" cy="270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6260" y="3238500"/>
            <a:ext cx="45720" cy="27051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4860" y="3406140"/>
            <a:ext cx="2994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594860" y="3939540"/>
            <a:ext cx="29946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묻기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94860" y="4709160"/>
            <a:ext cx="299466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목적지를 묻고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안내를 듣습니다.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 is the station?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8122920" y="3238500"/>
            <a:ext cx="3451860" cy="2705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2920" y="3238500"/>
            <a:ext cx="45720" cy="27051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1520" y="3406140"/>
            <a:ext cx="2994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51520" y="3939540"/>
            <a:ext cx="29946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인사와 소개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51520" y="4709160"/>
            <a:ext cx="299466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말하고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인사를 나눕니다.</a:t>
            </a:r>
            <a:endParaRPr lang="en-US" sz="17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 name is …</a:t>
            </a:r>
            <a:endParaRPr lang="en-US" sz="1740" dirty="0"/>
          </a:p>
        </p:txBody>
      </p:sp>
      <p:sp>
        <p:nvSpPr>
          <p:cNvPr id="22" name="Text 20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12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 MATERIAL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165860"/>
            <a:ext cx="54483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54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장의 표현 카드,</a:t>
            </a:r>
            <a:endParaRPr lang="en-US" sz="354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354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작은 대화</a:t>
            </a:r>
            <a:endParaRPr lang="en-US" sz="3540" dirty="0"/>
          </a:p>
        </p:txBody>
      </p:sp>
      <p:sp>
        <p:nvSpPr>
          <p:cNvPr id="5" name="Text 3"/>
          <p:cNvSpPr/>
          <p:nvPr/>
        </p:nvSpPr>
        <p:spPr>
          <a:xfrm>
            <a:off x="609600" y="2766060"/>
            <a:ext cx="548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글씨로 읽고, 한국어로 상황을 이해한 뒤</a:t>
            </a:r>
            <a:endParaRPr lang="en-US" sz="16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방식으로 말해봅니다.</a:t>
            </a:r>
            <a:endParaRPr lang="en-US" sz="1680" dirty="0"/>
          </a:p>
        </p:txBody>
      </p:sp>
      <p:sp>
        <p:nvSpPr>
          <p:cNvPr id="6" name="Shape 4"/>
          <p:cNvSpPr/>
          <p:nvPr/>
        </p:nvSpPr>
        <p:spPr>
          <a:xfrm>
            <a:off x="609600" y="3909060"/>
            <a:ext cx="5334000" cy="1790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3440" y="4114800"/>
            <a:ext cx="480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교재 · 커피 주문하기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3440" y="4587240"/>
            <a:ext cx="47625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52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would like</a:t>
            </a:r>
            <a:endParaRPr lang="en-US" sz="252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52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coffee, please.</a:t>
            </a:r>
            <a:endParaRPr lang="en-US" sz="2520" dirty="0"/>
          </a:p>
        </p:txBody>
      </p:sp>
      <p:pic>
        <p:nvPicPr>
          <p:cNvPr id="9" name="Image 0" descr="E:\하랑\돈스탑잉글리시\docs\portfolio-proposal\assets\cards-620-594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196340"/>
            <a:ext cx="4724400" cy="4526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0" y="5402580"/>
            <a:ext cx="4724400" cy="320040"/>
          </a:xfrm>
          <a:prstGeom prst="rect">
            <a:avLst/>
          </a:prstGeom>
          <a:solidFill>
            <a:srgbClr val="132D40"/>
          </a:solidFill>
          <a:ln w="12700">
            <a:solidFill>
              <a:srgbClr val="132D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72300" y="5463540"/>
            <a:ext cx="44958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제작한 수업 콘셉트 이미지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12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 EXPERIENCE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120140"/>
            <a:ext cx="1082040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흐름을 눈으로 그려봅니다</a:t>
            </a:r>
            <a:endParaRPr lang="en-US" sz="3960" dirty="0"/>
          </a:p>
        </p:txBody>
      </p:sp>
      <p:sp>
        <p:nvSpPr>
          <p:cNvPr id="5" name="Shape 3"/>
          <p:cNvSpPr/>
          <p:nvPr/>
        </p:nvSpPr>
        <p:spPr>
          <a:xfrm>
            <a:off x="609600" y="2202180"/>
            <a:ext cx="647700" cy="4572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4841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발표하기가 부담스럽다면 함께 따라 말하거나 짝 활동을 선택할 수 있습니다.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421380"/>
            <a:ext cx="2590800" cy="232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3421380"/>
            <a:ext cx="2590800" cy="381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5340" y="3657600"/>
            <a:ext cx="21793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28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80" dirty="0"/>
          </a:p>
        </p:txBody>
      </p:sp>
      <p:sp>
        <p:nvSpPr>
          <p:cNvPr id="10" name="Text 8"/>
          <p:cNvSpPr/>
          <p:nvPr/>
        </p:nvSpPr>
        <p:spPr>
          <a:xfrm>
            <a:off x="815340" y="4206240"/>
            <a:ext cx="217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고르기</a:t>
            </a:r>
            <a:endParaRPr lang="en-US" sz="1860" dirty="0"/>
          </a:p>
        </p:txBody>
      </p:sp>
      <p:sp>
        <p:nvSpPr>
          <p:cNvPr id="11" name="Text 9"/>
          <p:cNvSpPr/>
          <p:nvPr/>
        </p:nvSpPr>
        <p:spPr>
          <a:xfrm>
            <a:off x="815340" y="4907280"/>
            <a:ext cx="217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생활·여행 장면을</a:t>
            </a:r>
            <a:endParaRPr lang="en-US" sz="13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함께 살펴봅니다.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3429000" y="3421380"/>
            <a:ext cx="2590800" cy="232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3421380"/>
            <a:ext cx="2590800" cy="3810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4740" y="3657600"/>
            <a:ext cx="21793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28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80" dirty="0"/>
          </a:p>
        </p:txBody>
      </p:sp>
      <p:sp>
        <p:nvSpPr>
          <p:cNvPr id="15" name="Text 13"/>
          <p:cNvSpPr/>
          <p:nvPr/>
        </p:nvSpPr>
        <p:spPr>
          <a:xfrm>
            <a:off x="3634740" y="4206240"/>
            <a:ext cx="217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만나기</a:t>
            </a:r>
            <a:endParaRPr lang="en-US" sz="1860" dirty="0"/>
          </a:p>
        </p:txBody>
      </p:sp>
      <p:sp>
        <p:nvSpPr>
          <p:cNvPr id="16" name="Text 14"/>
          <p:cNvSpPr/>
          <p:nvPr/>
        </p:nvSpPr>
        <p:spPr>
          <a:xfrm>
            <a:off x="3634740" y="4907280"/>
            <a:ext cx="217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영어 표현을 듣고</a:t>
            </a:r>
            <a:endParaRPr lang="en-US" sz="13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글씨 자료로 읽습니다.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248400" y="3421380"/>
            <a:ext cx="2590800" cy="232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8400" y="3421380"/>
            <a:ext cx="2590800" cy="381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4140" y="3657600"/>
            <a:ext cx="21793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28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80" dirty="0"/>
          </a:p>
        </p:txBody>
      </p:sp>
      <p:sp>
        <p:nvSpPr>
          <p:cNvPr id="20" name="Text 18"/>
          <p:cNvSpPr/>
          <p:nvPr/>
        </p:nvSpPr>
        <p:spPr>
          <a:xfrm>
            <a:off x="6454140" y="4206240"/>
            <a:ext cx="217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말하기</a:t>
            </a:r>
            <a:endParaRPr lang="en-US" sz="1860" dirty="0"/>
          </a:p>
        </p:txBody>
      </p:sp>
      <p:sp>
        <p:nvSpPr>
          <p:cNvPr id="21" name="Text 19"/>
          <p:cNvSpPr/>
          <p:nvPr/>
        </p:nvSpPr>
        <p:spPr>
          <a:xfrm>
            <a:off x="6454140" y="4907280"/>
            <a:ext cx="217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원하면 짝으로 연습하며</a:t>
            </a:r>
            <a:endParaRPr lang="en-US" sz="13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상황과 역할을 바꿉니다.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9067800" y="3421380"/>
            <a:ext cx="2590800" cy="2324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67800" y="3421380"/>
            <a:ext cx="2590800" cy="3810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3540" y="3657600"/>
            <a:ext cx="21793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28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80" dirty="0"/>
          </a:p>
        </p:txBody>
      </p:sp>
      <p:sp>
        <p:nvSpPr>
          <p:cNvPr id="25" name="Text 23"/>
          <p:cNvSpPr/>
          <p:nvPr/>
        </p:nvSpPr>
        <p:spPr>
          <a:xfrm>
            <a:off x="9273540" y="4206240"/>
            <a:ext cx="217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장으로 정리</a:t>
            </a:r>
            <a:endParaRPr lang="en-US" sz="1860" dirty="0"/>
          </a:p>
        </p:txBody>
      </p:sp>
      <p:sp>
        <p:nvSpPr>
          <p:cNvPr id="26" name="Text 24"/>
          <p:cNvSpPr/>
          <p:nvPr/>
        </p:nvSpPr>
        <p:spPr>
          <a:xfrm>
            <a:off x="9273540" y="4907280"/>
            <a:ext cx="217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표현과 다음에</a:t>
            </a:r>
            <a:endParaRPr lang="en-US" sz="13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8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해볼 연습을 정리합니다.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12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FLEXIBLE FORMAT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120140"/>
            <a:ext cx="1082040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· 90 · 120분, 목적에 맞게</a:t>
            </a:r>
            <a:endParaRPr lang="en-US" sz="3960" dirty="0"/>
          </a:p>
        </p:txBody>
      </p:sp>
      <p:sp>
        <p:nvSpPr>
          <p:cNvPr id="5" name="Shape 3"/>
          <p:cNvSpPr/>
          <p:nvPr/>
        </p:nvSpPr>
        <p:spPr>
          <a:xfrm>
            <a:off x="609600" y="2202180"/>
            <a:ext cx="647700" cy="4572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4841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배분은 기본 제안입니다. 참가자의 요구와 기관 운영에 맞춰 조정합니다.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600" y="326136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057400" y="3124200"/>
            <a:ext cx="1517650" cy="762000"/>
          </a:xfrm>
          <a:prstGeom prst="rect">
            <a:avLst/>
          </a:prstGeom>
          <a:solidFill>
            <a:srgbClr val="132D40"/>
          </a:solidFill>
          <a:ln w="12700">
            <a:solidFill>
              <a:srgbClr val="132D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10740" y="3284220"/>
            <a:ext cx="141097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3613150" y="3124200"/>
            <a:ext cx="2295525" cy="7620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490" y="3284220"/>
            <a:ext cx="2188845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익히기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5946775" y="3124200"/>
            <a:ext cx="3073400" cy="762000"/>
          </a:xfrm>
          <a:prstGeom prst="rect">
            <a:avLst/>
          </a:prstGeom>
          <a:solidFill>
            <a:srgbClr val="456879"/>
          </a:solidFill>
          <a:ln w="12700">
            <a:solidFill>
              <a:srgbClr val="4568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0115" y="3284220"/>
            <a:ext cx="296672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연습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9058275" y="3124200"/>
            <a:ext cx="1517650" cy="76200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1615" y="3284220"/>
            <a:ext cx="141097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적용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10614025" y="3124200"/>
            <a:ext cx="739775" cy="762000"/>
          </a:xfrm>
          <a:prstGeom prst="rect">
            <a:avLst/>
          </a:prstGeom>
          <a:solidFill>
            <a:srgbClr val="6A858C"/>
          </a:solidFill>
          <a:ln w="12700">
            <a:solidFill>
              <a:srgbClr val="6A85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67365" y="3284220"/>
            <a:ext cx="633095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609600" y="426720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90분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057400" y="4130040"/>
            <a:ext cx="999067" cy="762000"/>
          </a:xfrm>
          <a:prstGeom prst="rect">
            <a:avLst/>
          </a:prstGeom>
          <a:solidFill>
            <a:srgbClr val="132D40"/>
          </a:solidFill>
          <a:ln w="12700">
            <a:solidFill>
              <a:srgbClr val="132D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10740" y="4290060"/>
            <a:ext cx="892387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260" dirty="0"/>
          </a:p>
        </p:txBody>
      </p:sp>
      <p:sp>
        <p:nvSpPr>
          <p:cNvPr id="21" name="Shape 19"/>
          <p:cNvSpPr/>
          <p:nvPr/>
        </p:nvSpPr>
        <p:spPr>
          <a:xfrm>
            <a:off x="3094567" y="4130040"/>
            <a:ext cx="2036233" cy="7620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47907" y="4290060"/>
            <a:ext cx="1929553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5168900" y="4130040"/>
            <a:ext cx="2554817" cy="762000"/>
          </a:xfrm>
          <a:prstGeom prst="rect">
            <a:avLst/>
          </a:prstGeom>
          <a:solidFill>
            <a:srgbClr val="456879"/>
          </a:solidFill>
          <a:ln w="12700">
            <a:solidFill>
              <a:srgbClr val="4568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2240" y="4290060"/>
            <a:ext cx="2448137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연습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7761817" y="4130040"/>
            <a:ext cx="480483" cy="76200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5157" y="4290060"/>
            <a:ext cx="373803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휴식</a:t>
            </a:r>
            <a:endParaRPr lang="en-US" sz="9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8280400" y="4130040"/>
            <a:ext cx="2036233" cy="762000"/>
          </a:xfrm>
          <a:prstGeom prst="rect">
            <a:avLst/>
          </a:prstGeom>
          <a:solidFill>
            <a:srgbClr val="6A858C"/>
          </a:solidFill>
          <a:ln w="12700">
            <a:solidFill>
              <a:srgbClr val="6A85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3740" y="4290060"/>
            <a:ext cx="1929553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10354733" y="4130040"/>
            <a:ext cx="999067" cy="762000"/>
          </a:xfrm>
          <a:prstGeom prst="rect">
            <a:avLst/>
          </a:prstGeom>
          <a:solidFill>
            <a:srgbClr val="879A9D"/>
          </a:solidFill>
          <a:ln w="12700">
            <a:solidFill>
              <a:srgbClr val="879A9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08073" y="4290060"/>
            <a:ext cx="892387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609600" y="527304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2057400" y="5135880"/>
            <a:ext cx="1128713" cy="762000"/>
          </a:xfrm>
          <a:prstGeom prst="rect">
            <a:avLst/>
          </a:prstGeom>
          <a:solidFill>
            <a:srgbClr val="132D40"/>
          </a:solidFill>
          <a:ln w="12700">
            <a:solidFill>
              <a:srgbClr val="132D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10740" y="5295900"/>
            <a:ext cx="1022033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260" dirty="0"/>
          </a:p>
        </p:txBody>
      </p:sp>
      <p:sp>
        <p:nvSpPr>
          <p:cNvPr id="34" name="Shape 32"/>
          <p:cNvSpPr/>
          <p:nvPr/>
        </p:nvSpPr>
        <p:spPr>
          <a:xfrm>
            <a:off x="3224213" y="5135880"/>
            <a:ext cx="1906588" cy="762000"/>
          </a:xfrm>
          <a:prstGeom prst="rect">
            <a:avLst/>
          </a:prstGeom>
          <a:solidFill>
            <a:srgbClr val="227C78"/>
          </a:solidFill>
          <a:ln w="12700">
            <a:solidFill>
              <a:srgbClr val="227C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7553" y="5295900"/>
            <a:ext cx="179990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</a:t>
            </a:r>
            <a:endParaRPr lang="en-US" sz="1260" dirty="0"/>
          </a:p>
        </p:txBody>
      </p:sp>
      <p:sp>
        <p:nvSpPr>
          <p:cNvPr id="36" name="Shape 34"/>
          <p:cNvSpPr/>
          <p:nvPr/>
        </p:nvSpPr>
        <p:spPr>
          <a:xfrm>
            <a:off x="5168900" y="5135880"/>
            <a:ext cx="2295525" cy="762000"/>
          </a:xfrm>
          <a:prstGeom prst="rect">
            <a:avLst/>
          </a:prstGeom>
          <a:solidFill>
            <a:srgbClr val="456879"/>
          </a:solidFill>
          <a:ln w="12700">
            <a:solidFill>
              <a:srgbClr val="45687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22240" y="5295900"/>
            <a:ext cx="2188845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연습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endParaRPr lang="en-US" sz="1260" dirty="0"/>
          </a:p>
        </p:txBody>
      </p:sp>
      <p:sp>
        <p:nvSpPr>
          <p:cNvPr id="38" name="Shape 36"/>
          <p:cNvSpPr/>
          <p:nvPr/>
        </p:nvSpPr>
        <p:spPr>
          <a:xfrm>
            <a:off x="7502525" y="5135880"/>
            <a:ext cx="739775" cy="76200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5865" y="5295900"/>
            <a:ext cx="633095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휴식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1260" dirty="0"/>
          </a:p>
        </p:txBody>
      </p:sp>
      <p:sp>
        <p:nvSpPr>
          <p:cNvPr id="40" name="Shape 38"/>
          <p:cNvSpPr/>
          <p:nvPr/>
        </p:nvSpPr>
        <p:spPr>
          <a:xfrm>
            <a:off x="8280400" y="5135880"/>
            <a:ext cx="1906588" cy="762000"/>
          </a:xfrm>
          <a:prstGeom prst="rect">
            <a:avLst/>
          </a:prstGeom>
          <a:solidFill>
            <a:srgbClr val="6A858C"/>
          </a:solidFill>
          <a:ln w="12700">
            <a:solidFill>
              <a:srgbClr val="6A858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33740" y="5295900"/>
            <a:ext cx="1799908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</a:t>
            </a:r>
            <a:endParaRPr lang="en-US" sz="1260" dirty="0"/>
          </a:p>
        </p:txBody>
      </p:sp>
      <p:sp>
        <p:nvSpPr>
          <p:cNvPr id="42" name="Shape 40"/>
          <p:cNvSpPr/>
          <p:nvPr/>
        </p:nvSpPr>
        <p:spPr>
          <a:xfrm>
            <a:off x="10225088" y="5135880"/>
            <a:ext cx="1128713" cy="762000"/>
          </a:xfrm>
          <a:prstGeom prst="rect">
            <a:avLst/>
          </a:prstGeom>
          <a:solidFill>
            <a:srgbClr val="879A9D"/>
          </a:solidFill>
          <a:ln w="12700">
            <a:solidFill>
              <a:srgbClr val="879A9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78428" y="5295900"/>
            <a:ext cx="1022033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26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1260" dirty="0"/>
          </a:p>
        </p:txBody>
      </p:sp>
      <p:sp>
        <p:nvSpPr>
          <p:cNvPr id="44" name="Text 42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12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DESIGNED FOR PARTICIPATION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120140"/>
            <a:ext cx="1082040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참여하는 분도, 자기 속도로</a:t>
            </a:r>
            <a:endParaRPr lang="en-US" sz="3960" dirty="0"/>
          </a:p>
        </p:txBody>
      </p:sp>
      <p:sp>
        <p:nvSpPr>
          <p:cNvPr id="5" name="Shape 3"/>
          <p:cNvSpPr/>
          <p:nvPr/>
        </p:nvSpPr>
        <p:spPr>
          <a:xfrm>
            <a:off x="609600" y="2202180"/>
            <a:ext cx="647700" cy="4572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4841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읽기·듣기·말하기 가운데 편한 방식부터 시작하도록 설계한 제안입니다.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314700"/>
            <a:ext cx="1097280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3520440"/>
            <a:ext cx="114300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247900" y="3482340"/>
            <a:ext cx="35433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글씨 · 짧은 문장</a:t>
            </a:r>
            <a:endParaRPr lang="en-US" sz="1860" dirty="0"/>
          </a:p>
        </p:txBody>
      </p:sp>
      <p:sp>
        <p:nvSpPr>
          <p:cNvPr id="10" name="Text 8"/>
          <p:cNvSpPr/>
          <p:nvPr/>
        </p:nvSpPr>
        <p:spPr>
          <a:xfrm>
            <a:off x="6172200" y="3497580"/>
            <a:ext cx="51816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6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자료는 사전에 보여드리고 읽기 편한 크기를 확인합니다.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609600" y="4206240"/>
            <a:ext cx="10972800" cy="784860"/>
          </a:xfrm>
          <a:prstGeom prst="rect">
            <a:avLst/>
          </a:prstGeom>
          <a:solidFill>
            <a:srgbClr val="E6EEEA"/>
          </a:solidFill>
          <a:ln w="12700">
            <a:solidFill>
              <a:srgbClr val="E6E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200" y="4411980"/>
            <a:ext cx="114300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듣기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247900" y="4373880"/>
            <a:ext cx="35433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상황 먼저 이해</a:t>
            </a:r>
            <a:endParaRPr lang="en-US" sz="1860" dirty="0"/>
          </a:p>
        </p:txBody>
      </p:sp>
      <p:sp>
        <p:nvSpPr>
          <p:cNvPr id="14" name="Text 12"/>
          <p:cNvSpPr/>
          <p:nvPr/>
        </p:nvSpPr>
        <p:spPr>
          <a:xfrm>
            <a:off x="6172200" y="4389120"/>
            <a:ext cx="51816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6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영어를 반복해서 듣고 뜻을 확인한 뒤 따라 말합니다.</a:t>
            </a:r>
            <a:endParaRPr lang="en-US" sz="1560" dirty="0"/>
          </a:p>
        </p:txBody>
      </p:sp>
      <p:sp>
        <p:nvSpPr>
          <p:cNvPr id="15" name="Shape 13"/>
          <p:cNvSpPr/>
          <p:nvPr/>
        </p:nvSpPr>
        <p:spPr>
          <a:xfrm>
            <a:off x="609600" y="5097780"/>
            <a:ext cx="1097280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200" y="5303520"/>
            <a:ext cx="1143000" cy="40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말하기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247900" y="5265420"/>
            <a:ext cx="35433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활동 · 함께 따라 말하기</a:t>
            </a:r>
            <a:endParaRPr lang="en-US" sz="1860" dirty="0"/>
          </a:p>
        </p:txBody>
      </p:sp>
      <p:sp>
        <p:nvSpPr>
          <p:cNvPr id="18" name="Text 16"/>
          <p:cNvSpPr/>
          <p:nvPr/>
        </p:nvSpPr>
        <p:spPr>
          <a:xfrm>
            <a:off x="6172200" y="5280660"/>
            <a:ext cx="51816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6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발표·스마트폰 사용을</a:t>
            </a:r>
            <a:endParaRPr lang="en-US" sz="156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6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필수로 요구하지 않습니다.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609600" y="6134100"/>
            <a:ext cx="109728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4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확인 · 청취 환경 / 이동 동선 / 휴식 필요 / 참여 지원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12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INSTRUCTOR &amp; PROPOSAL SCOPE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409700"/>
            <a:ext cx="6019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63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</a:t>
            </a:r>
            <a:endParaRPr lang="en-US" sz="6360" dirty="0"/>
          </a:p>
        </p:txBody>
      </p:sp>
      <p:sp>
        <p:nvSpPr>
          <p:cNvPr id="5" name="Text 3"/>
          <p:cNvSpPr/>
          <p:nvPr/>
        </p:nvSpPr>
        <p:spPr>
          <a:xfrm>
            <a:off x="655320" y="2766060"/>
            <a:ext cx="58674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34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돈스탑 잉글리시 운영자</a:t>
            </a:r>
            <a:endParaRPr lang="en-US" sz="2340" dirty="0"/>
          </a:p>
        </p:txBody>
      </p:sp>
      <p:sp>
        <p:nvSpPr>
          <p:cNvPr id="6" name="Shape 4"/>
          <p:cNvSpPr/>
          <p:nvPr/>
        </p:nvSpPr>
        <p:spPr>
          <a:xfrm>
            <a:off x="655320" y="3451860"/>
            <a:ext cx="723900" cy="5334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5320" y="3855720"/>
            <a:ext cx="5943600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220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부천의 중장년·어르신과</a:t>
            </a:r>
            <a:endParaRPr lang="en-US" sz="222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20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속 영어를 함께 연습하는</a:t>
            </a:r>
            <a:endParaRPr lang="en-US" sz="222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220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출강 프로그램을 제안합니다.</a:t>
            </a:r>
            <a:endParaRPr lang="en-US" sz="2220" dirty="0"/>
          </a:p>
        </p:txBody>
      </p:sp>
      <p:sp>
        <p:nvSpPr>
          <p:cNvPr id="8" name="Shape 6"/>
          <p:cNvSpPr/>
          <p:nvPr/>
        </p:nvSpPr>
        <p:spPr>
          <a:xfrm>
            <a:off x="7467600" y="1363980"/>
            <a:ext cx="4114800" cy="45796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57160" y="1638300"/>
            <a:ext cx="3550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34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출강 구성</a:t>
            </a:r>
            <a:endParaRPr lang="en-US" sz="2340" dirty="0"/>
          </a:p>
        </p:txBody>
      </p:sp>
      <p:sp>
        <p:nvSpPr>
          <p:cNvPr id="10" name="Text 8"/>
          <p:cNvSpPr/>
          <p:nvPr/>
        </p:nvSpPr>
        <p:spPr>
          <a:xfrm>
            <a:off x="7757160" y="247650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7757160" y="2781300"/>
            <a:ext cx="34671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2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중장년·어르신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7757160" y="326136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7757160" y="3566160"/>
            <a:ext cx="34671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2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10명 이상 단체 / 2~3인 모임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7757160" y="404622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7757160" y="4351020"/>
            <a:ext cx="34671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2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60·90·120분 중 협의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7757160" y="4831080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60" b="1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자료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7757160" y="5135880"/>
            <a:ext cx="34671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2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사진·학력·경력 기입형 프로필 별첨</a:t>
            </a:r>
            <a:endParaRPr lang="en-US" sz="1620" dirty="0"/>
          </a:p>
        </p:txBody>
      </p:sp>
      <p:sp>
        <p:nvSpPr>
          <p:cNvPr id="18" name="Text 16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12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RUN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120140"/>
            <a:ext cx="1082040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담당자가 확인할 운영 항목</a:t>
            </a:r>
            <a:endParaRPr lang="en-US" sz="3960" dirty="0"/>
          </a:p>
        </p:txBody>
      </p:sp>
      <p:sp>
        <p:nvSpPr>
          <p:cNvPr id="5" name="Shape 3"/>
          <p:cNvSpPr/>
          <p:nvPr/>
        </p:nvSpPr>
        <p:spPr>
          <a:xfrm>
            <a:off x="609600" y="2202180"/>
            <a:ext cx="647700" cy="4572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4841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때 정한 준비 분담을 바탕으로 최종 진행안을 확정합니다.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253740"/>
            <a:ext cx="5334000" cy="2606040"/>
          </a:xfrm>
          <a:prstGeom prst="rect">
            <a:avLst/>
          </a:prstGeom>
          <a:solidFill>
            <a:srgbClr val="132D40"/>
          </a:solidFill>
          <a:ln w="12700">
            <a:solidFill>
              <a:srgbClr val="132D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6300" y="3467100"/>
            <a:ext cx="4800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2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기관에서 확인</a:t>
            </a:r>
            <a:endParaRPr lang="en-US" sz="2220" dirty="0"/>
          </a:p>
        </p:txBody>
      </p:sp>
      <p:sp>
        <p:nvSpPr>
          <p:cNvPr id="9" name="Text 7"/>
          <p:cNvSpPr/>
          <p:nvPr/>
        </p:nvSpPr>
        <p:spPr>
          <a:xfrm>
            <a:off x="876300" y="415290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40" b="1" dirty="0">
                <a:solidFill>
                  <a:srgbClr val="DC9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1447800" y="413004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8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인원·연령대와 모집 안내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876300" y="464058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40" b="1" dirty="0">
                <a:solidFill>
                  <a:srgbClr val="DC9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447800" y="461772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8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 배치·음향·이동 동선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876300" y="512826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40" b="1" dirty="0">
                <a:solidFill>
                  <a:srgbClr val="DC9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1447800" y="51054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8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 인쇄·휴식과 참여 지원</a:t>
            </a:r>
            <a:endParaRPr lang="en-US" sz="1680" dirty="0"/>
          </a:p>
        </p:txBody>
      </p:sp>
      <p:sp>
        <p:nvSpPr>
          <p:cNvPr id="15" name="Shape 13"/>
          <p:cNvSpPr/>
          <p:nvPr/>
        </p:nvSpPr>
        <p:spPr>
          <a:xfrm>
            <a:off x="6248400" y="3253740"/>
            <a:ext cx="53340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5100" y="3467100"/>
            <a:ext cx="4800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2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준비</a:t>
            </a:r>
            <a:endParaRPr lang="en-US" sz="2220" dirty="0"/>
          </a:p>
        </p:txBody>
      </p:sp>
      <p:sp>
        <p:nvSpPr>
          <p:cNvPr id="17" name="Text 15"/>
          <p:cNvSpPr/>
          <p:nvPr/>
        </p:nvSpPr>
        <p:spPr>
          <a:xfrm>
            <a:off x="6515100" y="415290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4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7086600" y="413004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80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주제별 진행안과 표현 자료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6515100" y="464058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4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7086600" y="461772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80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 말하기·짝 활동 선택지</a:t>
            </a:r>
            <a:endParaRPr lang="en-US" sz="1680" dirty="0"/>
          </a:p>
        </p:txBody>
      </p:sp>
      <p:sp>
        <p:nvSpPr>
          <p:cNvPr id="21" name="Text 19"/>
          <p:cNvSpPr/>
          <p:nvPr/>
        </p:nvSpPr>
        <p:spPr>
          <a:xfrm>
            <a:off x="6515100" y="5128260"/>
            <a:ext cx="495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4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7086600" y="51054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80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표현 카드와 결과 정리</a:t>
            </a:r>
            <a:endParaRPr lang="en-US" sz="1680" dirty="0"/>
          </a:p>
        </p:txBody>
      </p:sp>
      <p:sp>
        <p:nvSpPr>
          <p:cNvPr id="23" name="Text 21"/>
          <p:cNvSpPr/>
          <p:nvPr/>
        </p:nvSpPr>
        <p:spPr>
          <a:xfrm>
            <a:off x="609600" y="611124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확인 · 날짜 / 장소 / 인원 / 시간 / 교재 / 비용 / 변경 조건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12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FOLLOW-UP &amp; AGREEMENT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120140"/>
            <a:ext cx="10820400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396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끝에도, 자료가 남습니다</a:t>
            </a:r>
            <a:endParaRPr lang="en-US" sz="3960" dirty="0"/>
          </a:p>
        </p:txBody>
      </p:sp>
      <p:sp>
        <p:nvSpPr>
          <p:cNvPr id="5" name="Shape 3"/>
          <p:cNvSpPr/>
          <p:nvPr/>
        </p:nvSpPr>
        <p:spPr>
          <a:xfrm>
            <a:off x="609600" y="2202180"/>
            <a:ext cx="647700" cy="45720"/>
          </a:xfrm>
          <a:prstGeom prst="rect">
            <a:avLst/>
          </a:prstGeom>
          <a:solidFill>
            <a:srgbClr val="DC955B"/>
          </a:solidFill>
          <a:ln w="12700">
            <a:solidFill>
              <a:srgbClr val="DC95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248412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성과를 단정하지 않고 참여 경험과 운영 결과를 확인하는 구성을 제안합니다.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337560"/>
            <a:ext cx="6743700" cy="2567940"/>
          </a:xfrm>
          <a:prstGeom prst="rect">
            <a:avLst/>
          </a:prstGeom>
          <a:solidFill>
            <a:srgbClr val="132D40"/>
          </a:solidFill>
          <a:ln w="12700">
            <a:solidFill>
              <a:srgbClr val="132D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3920" y="3558540"/>
            <a:ext cx="6096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후 확인할 세 가지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3920" y="4290060"/>
            <a:ext cx="609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오늘 써본 표현 한 가지</a:t>
            </a:r>
            <a:endParaRPr lang="en-US" sz="186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다음에 연습하고 싶은 장면</a:t>
            </a:r>
            <a:endParaRPr lang="en-US" sz="186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글씨·속도·활동 방식의 편안함</a:t>
            </a:r>
            <a:endParaRPr lang="en-US" sz="1860" dirty="0"/>
          </a:p>
        </p:txBody>
      </p:sp>
      <p:sp>
        <p:nvSpPr>
          <p:cNvPr id="10" name="Shape 8"/>
          <p:cNvSpPr/>
          <p:nvPr/>
        </p:nvSpPr>
        <p:spPr>
          <a:xfrm>
            <a:off x="7696200" y="3337560"/>
            <a:ext cx="3886200" cy="2567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62900" y="3558540"/>
            <a:ext cx="3352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980" b="1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기관에 남기는 정리</a:t>
            </a:r>
            <a:endParaRPr lang="en-US" sz="1980" dirty="0"/>
          </a:p>
        </p:txBody>
      </p:sp>
      <p:sp>
        <p:nvSpPr>
          <p:cNvPr id="12" name="Text 10"/>
          <p:cNvSpPr/>
          <p:nvPr/>
        </p:nvSpPr>
        <p:spPr>
          <a:xfrm>
            <a:off x="7962900" y="4290060"/>
            <a:ext cx="335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주제와 시간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제공한 교재 목록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익명 참여 의견 요약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600" y="6126480"/>
            <a:ext cx="1097280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순서 · 대상·주제 → 인원·시간·장소 → 비용·준비 분담 → 일정 확정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6272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12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956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96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DON’T STOP ENGLISH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609600" y="693420"/>
            <a:ext cx="952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20" b="1" dirty="0">
                <a:solidFill>
                  <a:srgbClr val="DC95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138684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4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기관에 맞는 수업,</a:t>
            </a:r>
            <a:endParaRPr lang="en-US" sz="46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4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정해볼까요</a:t>
            </a:r>
            <a:endParaRPr lang="en-US" sz="4680" dirty="0"/>
          </a:p>
        </p:txBody>
      </p:sp>
      <p:sp>
        <p:nvSpPr>
          <p:cNvPr id="5" name="Text 3"/>
          <p:cNvSpPr/>
          <p:nvPr/>
        </p:nvSpPr>
        <p:spPr>
          <a:xfrm>
            <a:off x="609600" y="3535680"/>
            <a:ext cx="105156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60" dirty="0">
                <a:solidFill>
                  <a:srgbClr val="CAD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배우고 싶은 장면 · 함께할 인원 · 원하는 시간과 장소</a:t>
            </a:r>
            <a:endParaRPr lang="en-US" sz="1860" dirty="0"/>
          </a:p>
        </p:txBody>
      </p:sp>
      <p:sp>
        <p:nvSpPr>
          <p:cNvPr id="6" name="Shape 4"/>
          <p:cNvSpPr/>
          <p:nvPr/>
        </p:nvSpPr>
        <p:spPr>
          <a:xfrm>
            <a:off x="609600" y="4480560"/>
            <a:ext cx="10972800" cy="139446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920" y="4686300"/>
            <a:ext cx="1043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80" b="1" dirty="0">
                <a:solidFill>
                  <a:srgbClr val="132D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출강 문의 · 돈스탑 잉글리시 공식 카카오 채널</a:t>
            </a:r>
            <a:endParaRPr lang="en-US" sz="168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883920" y="5181600"/>
            <a:ext cx="1043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u="sng" dirty="0">
                <a:solidFill>
                  <a:srgbClr val="227C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https://pf.kakao.com/_cDxaKn/chat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600" y="6484620"/>
            <a:ext cx="89916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B6C9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박새미 · 돈스탑 잉글리시 · 출강 구성 제안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0668000" y="6484620"/>
            <a:ext cx="91440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800"/>
              </a:spcAft>
              <a:buNone/>
            </a:pPr>
            <a:r>
              <a:rPr lang="en-US" sz="840" dirty="0">
                <a:solidFill>
                  <a:srgbClr val="B6C9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12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생활·여행 영어 출강 제안</dc:title>
  <dc:subject>박새미 출강 제안</dc:subject>
  <dc:creator>돈스탑 잉글리시</dc:creator>
  <cp:lastModifiedBy>돈스탑 잉글리시</cp:lastModifiedBy>
  <cp:revision>1</cp:revision>
  <dcterms:created xsi:type="dcterms:W3CDTF">2026-10-11T15:37:22Z</dcterms:created>
  <dcterms:modified xsi:type="dcterms:W3CDTF">2026-10-11T15:37:22Z</dcterms:modified>
</cp:coreProperties>
</file>