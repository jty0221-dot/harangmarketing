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pf.kakao.com/_cDxaKn/cha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D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DC9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SMALL GROUP PROPOSAL</a:t>
            </a:r>
            <a:endParaRPr lang="en-US" sz="1320" dirty="0"/>
          </a:p>
        </p:txBody>
      </p:sp>
      <p:pic>
        <p:nvPicPr>
          <p:cNvPr id="4" name="Image 0" descr="E:\하랑\돈스탑잉글리시\docs\portfolio-proposal\assets\cards-880-815_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0"/>
            <a:ext cx="6705600" cy="62103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0" y="5890260"/>
            <a:ext cx="6705600" cy="32004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00700" y="5951220"/>
            <a:ext cx="6477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제작한 수업 콘셉트 이미지</a:t>
            </a:r>
            <a:endParaRPr lang="en-US" sz="960" dirty="0"/>
          </a:p>
        </p:txBody>
      </p:sp>
      <p:sp>
        <p:nvSpPr>
          <p:cNvPr id="7" name="Shape 4"/>
          <p:cNvSpPr/>
          <p:nvPr/>
        </p:nvSpPr>
        <p:spPr>
          <a:xfrm>
            <a:off x="0" y="0"/>
            <a:ext cx="5486400" cy="621030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9600" y="365760"/>
            <a:ext cx="441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9" name="Text 6"/>
          <p:cNvSpPr/>
          <p:nvPr/>
        </p:nvSpPr>
        <p:spPr>
          <a:xfrm>
            <a:off x="609600" y="929640"/>
            <a:ext cx="4267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40" b="1" dirty="0">
                <a:solidFill>
                  <a:srgbClr val="DC9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2~3인 모임 제안</a:t>
            </a:r>
            <a:endParaRPr lang="en-US" sz="1440" dirty="0"/>
          </a:p>
        </p:txBody>
      </p:sp>
      <p:sp>
        <p:nvSpPr>
          <p:cNvPr id="10" name="Text 7"/>
          <p:cNvSpPr/>
          <p:nvPr/>
        </p:nvSpPr>
        <p:spPr>
          <a:xfrm>
            <a:off x="609600" y="1790700"/>
            <a:ext cx="46482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두세 사람이 함께,</a:t>
            </a:r>
            <a:endParaRPr lang="en-US" sz="3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영어가 대화가</a:t>
            </a:r>
            <a:endParaRPr lang="en-US" sz="3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되는 시간</a:t>
            </a:r>
            <a:endParaRPr lang="en-US" sz="3900" dirty="0"/>
          </a:p>
        </p:txBody>
      </p:sp>
      <p:sp>
        <p:nvSpPr>
          <p:cNvPr id="11" name="Text 8"/>
          <p:cNvSpPr/>
          <p:nvPr/>
        </p:nvSpPr>
        <p:spPr>
          <a:xfrm>
            <a:off x="609600" y="4404360"/>
            <a:ext cx="44958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친구·가족과 생활·여행 영어 모임</a:t>
            </a:r>
            <a:endParaRPr lang="en-US" sz="1680" dirty="0"/>
          </a:p>
        </p:txBody>
      </p:sp>
      <p:sp>
        <p:nvSpPr>
          <p:cNvPr id="12" name="Text 9"/>
          <p:cNvSpPr/>
          <p:nvPr/>
        </p:nvSpPr>
        <p:spPr>
          <a:xfrm>
            <a:off x="609600" y="5288280"/>
            <a:ext cx="449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운영자</a:t>
            </a:r>
            <a:endParaRPr lang="en-US" sz="132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2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부천 중심 / 1~2시간 / 운영 조건 협의</a:t>
            </a:r>
            <a:endParaRPr lang="en-US" sz="1320" dirty="0"/>
          </a:p>
        </p:txBody>
      </p:sp>
      <p:sp>
        <p:nvSpPr>
          <p:cNvPr id="13" name="Text 10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B6C9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4" name="Text 11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B6C9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/ 8</a:t>
            </a:r>
            <a:endParaRPr lang="en-US" sz="8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SMALL GROUP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20140"/>
            <a:ext cx="1082040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친구·가족·이웃과, 두세 분부터</a:t>
            </a:r>
            <a:endParaRPr lang="en-US" sz="3960" dirty="0"/>
          </a:p>
        </p:txBody>
      </p:sp>
      <p:sp>
        <p:nvSpPr>
          <p:cNvPr id="5" name="Shape 3"/>
          <p:cNvSpPr/>
          <p:nvPr/>
        </p:nvSpPr>
        <p:spPr>
          <a:xfrm>
            <a:off x="609600" y="2202180"/>
            <a:ext cx="647700" cy="45720"/>
          </a:xfrm>
          <a:prstGeom prst="rect">
            <a:avLst/>
          </a:prstGeom>
          <a:solidFill>
            <a:srgbClr val="DC955B"/>
          </a:solidFill>
          <a:ln w="12700">
            <a:solidFill>
              <a:srgbClr val="DC95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0" y="2484120"/>
            <a:ext cx="10744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생활·여행 장면 하나를 골라, 각자 편한 방식으로 말해봅니다.</a:t>
            </a:r>
            <a:endParaRPr lang="en-US" sz="1800" dirty="0"/>
          </a:p>
        </p:txBody>
      </p:sp>
      <p:pic>
        <p:nvPicPr>
          <p:cNvPr id="7" name="Image 0" descr="E:\하랑\돈스탑잉글리시\docs\portfolio-proposal\assets\cards-850-370_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3124200"/>
            <a:ext cx="6477000" cy="2819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9600" y="5623560"/>
            <a:ext cx="6477000" cy="32004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23900" y="5684520"/>
            <a:ext cx="62484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제작한 수업 콘셉트 이미지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7467600" y="3124200"/>
            <a:ext cx="4114800" cy="2819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57160" y="3459480"/>
            <a:ext cx="35052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54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2~3인</a:t>
            </a:r>
            <a:endParaRPr lang="en-US" sz="354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354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60~120분</a:t>
            </a:r>
            <a:endParaRPr lang="en-US" sz="3540" dirty="0"/>
          </a:p>
        </p:txBody>
      </p:sp>
      <p:sp>
        <p:nvSpPr>
          <p:cNvPr id="12" name="Text 9"/>
          <p:cNvSpPr/>
          <p:nvPr/>
        </p:nvSpPr>
        <p:spPr>
          <a:xfrm>
            <a:off x="7757160" y="4983480"/>
            <a:ext cx="350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7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부천 중심</a:t>
            </a:r>
            <a:endParaRPr lang="en-US" sz="174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시간·장소·비용 협의</a:t>
            </a:r>
            <a:endParaRPr lang="en-US" sz="1740" dirty="0"/>
          </a:p>
        </p:txBody>
      </p:sp>
      <p:sp>
        <p:nvSpPr>
          <p:cNvPr id="13" name="Text 10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4" name="Text 11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/ 8</a:t>
            </a:r>
            <a:endParaRPr lang="en-US" sz="8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PROGRAM MENU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20140"/>
            <a:ext cx="1082040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쓸 장면을 먼저 고릅니다</a:t>
            </a:r>
            <a:endParaRPr lang="en-US" sz="3960" dirty="0"/>
          </a:p>
        </p:txBody>
      </p:sp>
      <p:sp>
        <p:nvSpPr>
          <p:cNvPr id="5" name="Shape 3"/>
          <p:cNvSpPr/>
          <p:nvPr/>
        </p:nvSpPr>
        <p:spPr>
          <a:xfrm>
            <a:off x="609600" y="2202180"/>
            <a:ext cx="647700" cy="45720"/>
          </a:xfrm>
          <a:prstGeom prst="rect">
            <a:avLst/>
          </a:prstGeom>
          <a:solidFill>
            <a:srgbClr val="DC955B"/>
          </a:solidFill>
          <a:ln w="12700">
            <a:solidFill>
              <a:srgbClr val="DC95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0" y="2484120"/>
            <a:ext cx="10744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수업은 한 가지 장면을 중심으로, 표현을 듣고 직접 말해보는 구성을 제안합니다.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600" y="3238500"/>
            <a:ext cx="3451860" cy="270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600" y="3238500"/>
            <a:ext cx="45720" cy="2705100"/>
          </a:xfrm>
          <a:prstGeom prst="rect">
            <a:avLst/>
          </a:prstGeom>
          <a:solidFill>
            <a:srgbClr val="227C78"/>
          </a:solidFill>
          <a:ln w="12700">
            <a:solidFill>
              <a:srgbClr val="227C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3406140"/>
            <a:ext cx="2994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38200" y="3939540"/>
            <a:ext cx="29946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주문하기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38200" y="4709160"/>
            <a:ext cx="2994660" cy="1112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7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것과 수량을</a:t>
            </a:r>
            <a:endParaRPr lang="en-US" sz="174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말해봅니다.</a:t>
            </a:r>
            <a:endParaRPr lang="en-US" sz="174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 would like a coffee, please.</a:t>
            </a:r>
            <a:endParaRPr lang="en-US" sz="1740" dirty="0"/>
          </a:p>
        </p:txBody>
      </p:sp>
      <p:sp>
        <p:nvSpPr>
          <p:cNvPr id="12" name="Shape 10"/>
          <p:cNvSpPr/>
          <p:nvPr/>
        </p:nvSpPr>
        <p:spPr>
          <a:xfrm>
            <a:off x="4366260" y="3238500"/>
            <a:ext cx="3451860" cy="270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66260" y="3238500"/>
            <a:ext cx="45720" cy="2705100"/>
          </a:xfrm>
          <a:prstGeom prst="rect">
            <a:avLst/>
          </a:prstGeom>
          <a:solidFill>
            <a:srgbClr val="227C78"/>
          </a:solidFill>
          <a:ln w="12700">
            <a:solidFill>
              <a:srgbClr val="227C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4860" y="3406140"/>
            <a:ext cx="2994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594860" y="3939540"/>
            <a:ext cx="29946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 묻기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4594860" y="4709160"/>
            <a:ext cx="2994660" cy="1112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7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목적지를 묻고</a:t>
            </a:r>
            <a:endParaRPr lang="en-US" sz="174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안내를 듣습니다.</a:t>
            </a:r>
            <a:endParaRPr lang="en-US" sz="174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 is the station?</a:t>
            </a:r>
            <a:endParaRPr lang="en-US" sz="1740" dirty="0"/>
          </a:p>
        </p:txBody>
      </p:sp>
      <p:sp>
        <p:nvSpPr>
          <p:cNvPr id="17" name="Shape 15"/>
          <p:cNvSpPr/>
          <p:nvPr/>
        </p:nvSpPr>
        <p:spPr>
          <a:xfrm>
            <a:off x="8122920" y="3238500"/>
            <a:ext cx="3451860" cy="270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2920" y="3238500"/>
            <a:ext cx="45720" cy="2705100"/>
          </a:xfrm>
          <a:prstGeom prst="rect">
            <a:avLst/>
          </a:prstGeom>
          <a:solidFill>
            <a:srgbClr val="227C78"/>
          </a:solidFill>
          <a:ln w="12700">
            <a:solidFill>
              <a:srgbClr val="227C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51520" y="3406140"/>
            <a:ext cx="2994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8351520" y="3939540"/>
            <a:ext cx="29946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인사와 소개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8351520" y="4709160"/>
            <a:ext cx="2994660" cy="1112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7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이름을 말하고</a:t>
            </a:r>
            <a:endParaRPr lang="en-US" sz="174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인사를 나눕니다.</a:t>
            </a:r>
            <a:endParaRPr lang="en-US" sz="174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 name is …</a:t>
            </a:r>
            <a:endParaRPr lang="en-US" sz="1740" dirty="0"/>
          </a:p>
        </p:txBody>
      </p:sp>
      <p:sp>
        <p:nvSpPr>
          <p:cNvPr id="22" name="Text 20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23" name="Text 21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/ 8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LEARNING MATERIAL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65860"/>
            <a:ext cx="54483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5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장의 표현 카드,</a:t>
            </a:r>
            <a:endParaRPr lang="en-US" sz="354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35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작은 대화</a:t>
            </a:r>
            <a:endParaRPr lang="en-US" sz="3540" dirty="0"/>
          </a:p>
        </p:txBody>
      </p:sp>
      <p:sp>
        <p:nvSpPr>
          <p:cNvPr id="5" name="Text 3"/>
          <p:cNvSpPr/>
          <p:nvPr/>
        </p:nvSpPr>
        <p:spPr>
          <a:xfrm>
            <a:off x="609600" y="2766060"/>
            <a:ext cx="5486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글씨로 읽고, 한국어로 상황을 이해한 뒤</a:t>
            </a:r>
            <a:endParaRPr lang="en-US" sz="16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방식으로 말해봅니다.</a:t>
            </a:r>
            <a:endParaRPr lang="en-US" sz="1680" dirty="0"/>
          </a:p>
        </p:txBody>
      </p:sp>
      <p:sp>
        <p:nvSpPr>
          <p:cNvPr id="6" name="Shape 4"/>
          <p:cNvSpPr/>
          <p:nvPr/>
        </p:nvSpPr>
        <p:spPr>
          <a:xfrm>
            <a:off x="609600" y="3909060"/>
            <a:ext cx="5334000" cy="179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3440" y="4114800"/>
            <a:ext cx="4800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교재 · 커피 주문하기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3440" y="4587240"/>
            <a:ext cx="4762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52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 would like</a:t>
            </a:r>
            <a:endParaRPr lang="en-US" sz="252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52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coffee, please.</a:t>
            </a:r>
            <a:endParaRPr lang="en-US" sz="2520" dirty="0"/>
          </a:p>
        </p:txBody>
      </p:sp>
      <p:pic>
        <p:nvPicPr>
          <p:cNvPr id="9" name="Image 0" descr="E:\하랑\돈스탑잉글리시\docs\portfolio-proposal\assets\cards-620-594_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196340"/>
            <a:ext cx="472440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858000" y="5402580"/>
            <a:ext cx="4724400" cy="32004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72300" y="5463540"/>
            <a:ext cx="44958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제작한 수업 콘셉트 이미지</a:t>
            </a:r>
            <a:endParaRPr lang="en-US" sz="960" dirty="0"/>
          </a:p>
        </p:txBody>
      </p:sp>
      <p:sp>
        <p:nvSpPr>
          <p:cNvPr id="12" name="Text 9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3" name="Text 10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8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 EXPERIENCE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20140"/>
            <a:ext cx="1082040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편한 방식으로 참여합니다</a:t>
            </a:r>
            <a:endParaRPr lang="en-US" sz="3960" dirty="0"/>
          </a:p>
        </p:txBody>
      </p:sp>
      <p:sp>
        <p:nvSpPr>
          <p:cNvPr id="5" name="Shape 3"/>
          <p:cNvSpPr/>
          <p:nvPr/>
        </p:nvSpPr>
        <p:spPr>
          <a:xfrm>
            <a:off x="609600" y="2202180"/>
            <a:ext cx="647700" cy="45720"/>
          </a:xfrm>
          <a:prstGeom prst="rect">
            <a:avLst/>
          </a:prstGeom>
          <a:solidFill>
            <a:srgbClr val="DC955B"/>
          </a:solidFill>
          <a:ln w="12700">
            <a:solidFill>
              <a:srgbClr val="DC95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0" y="2484120"/>
            <a:ext cx="10744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발표하기가 부담스럽다면 함께 따라 말하거나 짝 활동을 선택할 수 있습니다.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600" y="3421380"/>
            <a:ext cx="2590800" cy="232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600" y="3421380"/>
            <a:ext cx="2590800" cy="38100"/>
          </a:xfrm>
          <a:prstGeom prst="rect">
            <a:avLst/>
          </a:prstGeom>
          <a:solidFill>
            <a:srgbClr val="227C78"/>
          </a:solidFill>
          <a:ln w="12700">
            <a:solidFill>
              <a:srgbClr val="227C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5340" y="3657600"/>
            <a:ext cx="21793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8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80" dirty="0"/>
          </a:p>
        </p:txBody>
      </p:sp>
      <p:sp>
        <p:nvSpPr>
          <p:cNvPr id="10" name="Text 8"/>
          <p:cNvSpPr/>
          <p:nvPr/>
        </p:nvSpPr>
        <p:spPr>
          <a:xfrm>
            <a:off x="815340" y="4206240"/>
            <a:ext cx="217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장면 고르기</a:t>
            </a:r>
            <a:endParaRPr lang="en-US" sz="1860" dirty="0"/>
          </a:p>
        </p:txBody>
      </p:sp>
      <p:sp>
        <p:nvSpPr>
          <p:cNvPr id="11" name="Text 9"/>
          <p:cNvSpPr/>
          <p:nvPr/>
        </p:nvSpPr>
        <p:spPr>
          <a:xfrm>
            <a:off x="815340" y="4907280"/>
            <a:ext cx="2179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생활·여행 장면을</a:t>
            </a:r>
            <a:endParaRPr lang="en-US" sz="13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한국어로 함께 살펴봅니다.</a:t>
            </a:r>
            <a:endParaRPr lang="en-US" sz="1380" dirty="0"/>
          </a:p>
        </p:txBody>
      </p:sp>
      <p:sp>
        <p:nvSpPr>
          <p:cNvPr id="12" name="Shape 10"/>
          <p:cNvSpPr/>
          <p:nvPr/>
        </p:nvSpPr>
        <p:spPr>
          <a:xfrm>
            <a:off x="3429000" y="3421380"/>
            <a:ext cx="2590800" cy="232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3421380"/>
            <a:ext cx="2590800" cy="38100"/>
          </a:xfrm>
          <a:prstGeom prst="rect">
            <a:avLst/>
          </a:prstGeom>
          <a:solidFill>
            <a:srgbClr val="DC955B"/>
          </a:solidFill>
          <a:ln w="12700">
            <a:solidFill>
              <a:srgbClr val="DC95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4740" y="3657600"/>
            <a:ext cx="21793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8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3634740" y="4206240"/>
            <a:ext cx="217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만나기</a:t>
            </a:r>
            <a:endParaRPr lang="en-US" sz="1860" dirty="0"/>
          </a:p>
        </p:txBody>
      </p:sp>
      <p:sp>
        <p:nvSpPr>
          <p:cNvPr id="16" name="Text 14"/>
          <p:cNvSpPr/>
          <p:nvPr/>
        </p:nvSpPr>
        <p:spPr>
          <a:xfrm>
            <a:off x="3634740" y="4907280"/>
            <a:ext cx="2179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영어 표현을 듣고</a:t>
            </a:r>
            <a:endParaRPr lang="en-US" sz="13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글씨 자료로 읽습니다.</a:t>
            </a:r>
            <a:endParaRPr lang="en-US" sz="1380" dirty="0"/>
          </a:p>
        </p:txBody>
      </p:sp>
      <p:sp>
        <p:nvSpPr>
          <p:cNvPr id="17" name="Shape 15"/>
          <p:cNvSpPr/>
          <p:nvPr/>
        </p:nvSpPr>
        <p:spPr>
          <a:xfrm>
            <a:off x="6248400" y="3421380"/>
            <a:ext cx="2590800" cy="232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48400" y="3421380"/>
            <a:ext cx="2590800" cy="38100"/>
          </a:xfrm>
          <a:prstGeom prst="rect">
            <a:avLst/>
          </a:prstGeom>
          <a:solidFill>
            <a:srgbClr val="227C78"/>
          </a:solidFill>
          <a:ln w="12700">
            <a:solidFill>
              <a:srgbClr val="227C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54140" y="3657600"/>
            <a:ext cx="21793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8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80" dirty="0"/>
          </a:p>
        </p:txBody>
      </p:sp>
      <p:sp>
        <p:nvSpPr>
          <p:cNvPr id="20" name="Text 18"/>
          <p:cNvSpPr/>
          <p:nvPr/>
        </p:nvSpPr>
        <p:spPr>
          <a:xfrm>
            <a:off x="6454140" y="4206240"/>
            <a:ext cx="217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말하기</a:t>
            </a:r>
            <a:endParaRPr lang="en-US" sz="1860" dirty="0"/>
          </a:p>
        </p:txBody>
      </p:sp>
      <p:sp>
        <p:nvSpPr>
          <p:cNvPr id="21" name="Text 19"/>
          <p:cNvSpPr/>
          <p:nvPr/>
        </p:nvSpPr>
        <p:spPr>
          <a:xfrm>
            <a:off x="6454140" y="4907280"/>
            <a:ext cx="2179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원하면 짝으로 연습하며</a:t>
            </a:r>
            <a:endParaRPr lang="en-US" sz="13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상황과 역할을 바꿉니다.</a:t>
            </a:r>
            <a:endParaRPr lang="en-US" sz="1380" dirty="0"/>
          </a:p>
        </p:txBody>
      </p:sp>
      <p:sp>
        <p:nvSpPr>
          <p:cNvPr id="22" name="Shape 20"/>
          <p:cNvSpPr/>
          <p:nvPr/>
        </p:nvSpPr>
        <p:spPr>
          <a:xfrm>
            <a:off x="9067800" y="3421380"/>
            <a:ext cx="2590800" cy="232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67800" y="3421380"/>
            <a:ext cx="2590800" cy="38100"/>
          </a:xfrm>
          <a:prstGeom prst="rect">
            <a:avLst/>
          </a:prstGeom>
          <a:solidFill>
            <a:srgbClr val="DC955B"/>
          </a:solidFill>
          <a:ln w="12700">
            <a:solidFill>
              <a:srgbClr val="DC95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73540" y="3657600"/>
            <a:ext cx="21793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8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280" dirty="0"/>
          </a:p>
        </p:txBody>
      </p:sp>
      <p:sp>
        <p:nvSpPr>
          <p:cNvPr id="25" name="Text 23"/>
          <p:cNvSpPr/>
          <p:nvPr/>
        </p:nvSpPr>
        <p:spPr>
          <a:xfrm>
            <a:off x="9273540" y="4206240"/>
            <a:ext cx="217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정리</a:t>
            </a:r>
            <a:endParaRPr lang="en-US" sz="1860" dirty="0"/>
          </a:p>
        </p:txBody>
      </p:sp>
      <p:sp>
        <p:nvSpPr>
          <p:cNvPr id="26" name="Text 24"/>
          <p:cNvSpPr/>
          <p:nvPr/>
        </p:nvSpPr>
        <p:spPr>
          <a:xfrm>
            <a:off x="9273540" y="4907280"/>
            <a:ext cx="2179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표현과 다음에</a:t>
            </a:r>
            <a:endParaRPr lang="en-US" sz="13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해볼 연습을 정리합니다.</a:t>
            </a:r>
            <a:endParaRPr lang="en-US" sz="1380" dirty="0"/>
          </a:p>
        </p:txBody>
      </p:sp>
      <p:sp>
        <p:nvSpPr>
          <p:cNvPr id="27" name="Text 25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28" name="Text 26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/ 8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READY TO RUN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20140"/>
            <a:ext cx="1082040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모임도, 준비는 명확하게</a:t>
            </a:r>
            <a:endParaRPr lang="en-US" sz="3960" dirty="0"/>
          </a:p>
        </p:txBody>
      </p:sp>
      <p:sp>
        <p:nvSpPr>
          <p:cNvPr id="5" name="Shape 3"/>
          <p:cNvSpPr/>
          <p:nvPr/>
        </p:nvSpPr>
        <p:spPr>
          <a:xfrm>
            <a:off x="609600" y="2202180"/>
            <a:ext cx="647700" cy="45720"/>
          </a:xfrm>
          <a:prstGeom prst="rect">
            <a:avLst/>
          </a:prstGeom>
          <a:solidFill>
            <a:srgbClr val="DC955B"/>
          </a:solidFill>
          <a:ln w="12700">
            <a:solidFill>
              <a:srgbClr val="DC95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0" y="2484120"/>
            <a:ext cx="10744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때 정한 준비 분담을 바탕으로 최종 진행안을 확정합니다.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600" y="3253740"/>
            <a:ext cx="5334000" cy="260604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6300" y="3467100"/>
            <a:ext cx="4800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모임에서 확인</a:t>
            </a:r>
            <a:endParaRPr lang="en-US" sz="2220" dirty="0"/>
          </a:p>
        </p:txBody>
      </p:sp>
      <p:sp>
        <p:nvSpPr>
          <p:cNvPr id="9" name="Text 7"/>
          <p:cNvSpPr/>
          <p:nvPr/>
        </p:nvSpPr>
        <p:spPr>
          <a:xfrm>
            <a:off x="876300" y="4152900"/>
            <a:ext cx="495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40" b="1" dirty="0">
                <a:solidFill>
                  <a:srgbClr val="DC9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40" dirty="0"/>
          </a:p>
        </p:txBody>
      </p:sp>
      <p:sp>
        <p:nvSpPr>
          <p:cNvPr id="10" name="Text 8"/>
          <p:cNvSpPr/>
          <p:nvPr/>
        </p:nvSpPr>
        <p:spPr>
          <a:xfrm>
            <a:off x="1447800" y="4130040"/>
            <a:ext cx="4191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두세 분의 관심 장면과 영어 경험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876300" y="4640580"/>
            <a:ext cx="495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40" b="1" dirty="0">
                <a:solidFill>
                  <a:srgbClr val="DC9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40" dirty="0"/>
          </a:p>
        </p:txBody>
      </p:sp>
      <p:sp>
        <p:nvSpPr>
          <p:cNvPr id="12" name="Text 10"/>
          <p:cNvSpPr/>
          <p:nvPr/>
        </p:nvSpPr>
        <p:spPr>
          <a:xfrm>
            <a:off x="1447800" y="4617720"/>
            <a:ext cx="4191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장소·시간과 앉을 자리</a:t>
            </a:r>
            <a:endParaRPr lang="en-US" sz="1680" dirty="0"/>
          </a:p>
        </p:txBody>
      </p:sp>
      <p:sp>
        <p:nvSpPr>
          <p:cNvPr id="13" name="Text 11"/>
          <p:cNvSpPr/>
          <p:nvPr/>
        </p:nvSpPr>
        <p:spPr>
          <a:xfrm>
            <a:off x="876300" y="5128260"/>
            <a:ext cx="495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40" b="1" dirty="0">
                <a:solidFill>
                  <a:srgbClr val="DC9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40" dirty="0"/>
          </a:p>
        </p:txBody>
      </p:sp>
      <p:sp>
        <p:nvSpPr>
          <p:cNvPr id="14" name="Text 12"/>
          <p:cNvSpPr/>
          <p:nvPr/>
        </p:nvSpPr>
        <p:spPr>
          <a:xfrm>
            <a:off x="1447800" y="5105400"/>
            <a:ext cx="4191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교재 인쇄와 이동 조건</a:t>
            </a:r>
            <a:endParaRPr lang="en-US" sz="1680" dirty="0"/>
          </a:p>
        </p:txBody>
      </p:sp>
      <p:sp>
        <p:nvSpPr>
          <p:cNvPr id="15" name="Shape 13"/>
          <p:cNvSpPr/>
          <p:nvPr/>
        </p:nvSpPr>
        <p:spPr>
          <a:xfrm>
            <a:off x="6248400" y="3253740"/>
            <a:ext cx="53340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15100" y="3467100"/>
            <a:ext cx="4800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강사가 준비</a:t>
            </a:r>
            <a:endParaRPr lang="en-US" sz="2220" dirty="0"/>
          </a:p>
        </p:txBody>
      </p:sp>
      <p:sp>
        <p:nvSpPr>
          <p:cNvPr id="17" name="Text 15"/>
          <p:cNvSpPr/>
          <p:nvPr/>
        </p:nvSpPr>
        <p:spPr>
          <a:xfrm>
            <a:off x="6515100" y="4152900"/>
            <a:ext cx="495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4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40" dirty="0"/>
          </a:p>
        </p:txBody>
      </p:sp>
      <p:sp>
        <p:nvSpPr>
          <p:cNvPr id="18" name="Text 16"/>
          <p:cNvSpPr/>
          <p:nvPr/>
        </p:nvSpPr>
        <p:spPr>
          <a:xfrm>
            <a:off x="7086600" y="4130040"/>
            <a:ext cx="4191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주제별 진행안과 표현 자료</a:t>
            </a:r>
            <a:endParaRPr lang="en-US" sz="1680" dirty="0"/>
          </a:p>
        </p:txBody>
      </p:sp>
      <p:sp>
        <p:nvSpPr>
          <p:cNvPr id="19" name="Text 17"/>
          <p:cNvSpPr/>
          <p:nvPr/>
        </p:nvSpPr>
        <p:spPr>
          <a:xfrm>
            <a:off x="6515100" y="4640580"/>
            <a:ext cx="495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4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40" dirty="0"/>
          </a:p>
        </p:txBody>
      </p:sp>
      <p:sp>
        <p:nvSpPr>
          <p:cNvPr id="20" name="Text 18"/>
          <p:cNvSpPr/>
          <p:nvPr/>
        </p:nvSpPr>
        <p:spPr>
          <a:xfrm>
            <a:off x="7086600" y="4617720"/>
            <a:ext cx="4191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 말하기·짝 활동 선택지</a:t>
            </a:r>
            <a:endParaRPr lang="en-US" sz="1680" dirty="0"/>
          </a:p>
        </p:txBody>
      </p:sp>
      <p:sp>
        <p:nvSpPr>
          <p:cNvPr id="21" name="Text 19"/>
          <p:cNvSpPr/>
          <p:nvPr/>
        </p:nvSpPr>
        <p:spPr>
          <a:xfrm>
            <a:off x="6515100" y="5128260"/>
            <a:ext cx="495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4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40" dirty="0"/>
          </a:p>
        </p:txBody>
      </p:sp>
      <p:sp>
        <p:nvSpPr>
          <p:cNvPr id="22" name="Text 20"/>
          <p:cNvSpPr/>
          <p:nvPr/>
        </p:nvSpPr>
        <p:spPr>
          <a:xfrm>
            <a:off x="7086600" y="5105400"/>
            <a:ext cx="4191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 표현 카드와 결과 정리</a:t>
            </a:r>
            <a:endParaRPr lang="en-US" sz="1680" dirty="0"/>
          </a:p>
        </p:txBody>
      </p:sp>
      <p:sp>
        <p:nvSpPr>
          <p:cNvPr id="23" name="Text 21"/>
          <p:cNvSpPr/>
          <p:nvPr/>
        </p:nvSpPr>
        <p:spPr>
          <a:xfrm>
            <a:off x="609600" y="611124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확인 · 날짜 / 장소 / 인원 / 시간 / 교재 / 비용 / 변경 조건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25" name="Text 23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/ 8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FOLLOW-UP &amp; AGREEMENT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20140"/>
            <a:ext cx="1082040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수업의 끝에도, 자료가 남습니다</a:t>
            </a:r>
            <a:endParaRPr lang="en-US" sz="3960" dirty="0"/>
          </a:p>
        </p:txBody>
      </p:sp>
      <p:sp>
        <p:nvSpPr>
          <p:cNvPr id="5" name="Shape 3"/>
          <p:cNvSpPr/>
          <p:nvPr/>
        </p:nvSpPr>
        <p:spPr>
          <a:xfrm>
            <a:off x="609600" y="2202180"/>
            <a:ext cx="647700" cy="45720"/>
          </a:xfrm>
          <a:prstGeom prst="rect">
            <a:avLst/>
          </a:prstGeom>
          <a:solidFill>
            <a:srgbClr val="DC955B"/>
          </a:solidFill>
          <a:ln w="12700">
            <a:solidFill>
              <a:srgbClr val="DC95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0" y="2484120"/>
            <a:ext cx="10744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성과를 단정하지 않고 참여 경험과 운영 결과를 확인하는 구성을 제안합니다.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600" y="3337560"/>
            <a:ext cx="6743700" cy="256794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3920" y="3558540"/>
            <a:ext cx="6096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후 확인할 세 가지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83920" y="4290060"/>
            <a:ext cx="609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6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오늘 써본 표현 한 가지</a:t>
            </a:r>
            <a:endParaRPr lang="en-US" sz="186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6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다음에 연습하고 싶은 장면</a:t>
            </a:r>
            <a:endParaRPr lang="en-US" sz="186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6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글씨·속도·활동 방식의 편안함</a:t>
            </a:r>
            <a:endParaRPr lang="en-US" sz="1860" dirty="0"/>
          </a:p>
        </p:txBody>
      </p:sp>
      <p:sp>
        <p:nvSpPr>
          <p:cNvPr id="10" name="Shape 8"/>
          <p:cNvSpPr/>
          <p:nvPr/>
        </p:nvSpPr>
        <p:spPr>
          <a:xfrm>
            <a:off x="7696200" y="3337560"/>
            <a:ext cx="3886200" cy="2567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62900" y="3558540"/>
            <a:ext cx="3352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98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모임에 남기는 정리</a:t>
            </a:r>
            <a:endParaRPr lang="en-US" sz="1980" dirty="0"/>
          </a:p>
        </p:txBody>
      </p:sp>
      <p:sp>
        <p:nvSpPr>
          <p:cNvPr id="12" name="Text 10"/>
          <p:cNvSpPr/>
          <p:nvPr/>
        </p:nvSpPr>
        <p:spPr>
          <a:xfrm>
            <a:off x="7962900" y="4290060"/>
            <a:ext cx="3352800" cy="1341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주제와 시간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제공한 교재 목록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익명 참여 의견 요약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09600" y="6126480"/>
            <a:ext cx="10972800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순서 · 대상·주제 → 인원·시간·장소 → 비용·준비 분담 → 일정 확정</a:t>
            </a:r>
            <a:endParaRPr lang="en-US" sz="1440" dirty="0"/>
          </a:p>
        </p:txBody>
      </p:sp>
      <p:sp>
        <p:nvSpPr>
          <p:cNvPr id="14" name="Text 12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/ 8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D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DC9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38684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46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모임의 첫 장면,</a:t>
            </a:r>
            <a:endParaRPr lang="en-US" sz="46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46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골라볼까요</a:t>
            </a:r>
            <a:endParaRPr lang="en-US" sz="4680" dirty="0"/>
          </a:p>
        </p:txBody>
      </p:sp>
      <p:sp>
        <p:nvSpPr>
          <p:cNvPr id="5" name="Text 3"/>
          <p:cNvSpPr/>
          <p:nvPr/>
        </p:nvSpPr>
        <p:spPr>
          <a:xfrm>
            <a:off x="609600" y="3535680"/>
            <a:ext cx="105156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6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배우고 싶은 장면 · 함께할 인원 · 원하는 시간과 장소</a:t>
            </a:r>
            <a:endParaRPr lang="en-US" sz="1860" dirty="0"/>
          </a:p>
        </p:txBody>
      </p:sp>
      <p:sp>
        <p:nvSpPr>
          <p:cNvPr id="6" name="Shape 4"/>
          <p:cNvSpPr/>
          <p:nvPr/>
        </p:nvSpPr>
        <p:spPr>
          <a:xfrm>
            <a:off x="609600" y="4480560"/>
            <a:ext cx="10972800" cy="139446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3920" y="4686300"/>
            <a:ext cx="1043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출강 문의 · 돈스탑 잉글리시 공식 카카오 채널</a:t>
            </a:r>
            <a:endParaRPr lang="en-US" sz="168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883920" y="5181600"/>
            <a:ext cx="1043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u="sng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https://pf.kakao.com/_cDxaKn/chat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B6C9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0" name="Text 8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B6C9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/ 8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생활·여행 영어 출강 제안</dc:title>
  <dc:subject>박새미 출강 제안</dc:subject>
  <dc:creator>돈스탑 잉글리시</dc:creator>
  <cp:lastModifiedBy>돈스탑 잉글리시</cp:lastModifiedBy>
  <cp:revision>1</cp:revision>
  <dcterms:created xsi:type="dcterms:W3CDTF">2026-10-11T15:37:22Z</dcterms:created>
  <dcterms:modified xsi:type="dcterms:W3CDTF">2026-10-11T15:37:22Z</dcterms:modified>
</cp:coreProperties>
</file>